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10287000" cx="1828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dc09ca929d_1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g3dc09ca929d_1_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dc09ca929d_1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g3dc09ca929d_1_2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dc09ca929d_1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g3dc09ca929d_1_4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dc09ca929d_1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g3dc09ca929d_1_6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dc09ca929d_1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g3dc09ca929d_1_13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dc09ca929d_1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g3dc09ca929d_1_17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dc09ca929d_1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g3dc09ca929d_1_15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Relationship Id="rId4" Type="http://schemas.openxmlformats.org/officeDocument/2006/relationships/image" Target="../media/image1.png"/><Relationship Id="rId5" Type="http://schemas.openxmlformats.org/officeDocument/2006/relationships/hyperlink" Target="https://www.kaggle.com/datasets/pavansubhasht/ibm-hr-analytics-attrition-dataset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g"/><Relationship Id="rId4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jpg"/><Relationship Id="rId4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jpg"/><Relationship Id="rId4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jpg"/><Relationship Id="rId4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jpg"/><Relationship Id="rId4" Type="http://schemas.openxmlformats.org/officeDocument/2006/relationships/image" Target="../media/image3.png"/><Relationship Id="rId5" Type="http://schemas.openxmlformats.org/officeDocument/2006/relationships/image" Target="../media/image8.png"/><Relationship Id="rId6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jpg"/><Relationship Id="rId4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jpg"/><Relationship Id="rId4" Type="http://schemas.openxmlformats.org/officeDocument/2006/relationships/image" Target="../media/image1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jpg"/><Relationship Id="rId4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 flipH="1" rot="10800000">
            <a:off x="0" y="8990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10287000"/>
                </a:moveTo>
                <a:lnTo>
                  <a:pt x="18288000" y="10287000"/>
                </a:lnTo>
                <a:lnTo>
                  <a:pt x="18288000" y="0"/>
                </a:lnTo>
                <a:lnTo>
                  <a:pt x="0" y="0"/>
                </a:lnTo>
                <a:lnTo>
                  <a:pt x="0" y="1028700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9222" l="0" r="0" t="-9222"/>
            </a:stretch>
          </a:blipFill>
          <a:ln>
            <a:noFill/>
          </a:ln>
        </p:spPr>
      </p:sp>
      <p:grpSp>
        <p:nvGrpSpPr>
          <p:cNvPr id="85" name="Google Shape;85;p13"/>
          <p:cNvGrpSpPr/>
          <p:nvPr/>
        </p:nvGrpSpPr>
        <p:grpSpPr>
          <a:xfrm>
            <a:off x="14445008" y="8610695"/>
            <a:ext cx="2814292" cy="643540"/>
            <a:chOff x="0" y="0"/>
            <a:chExt cx="741213" cy="169492"/>
          </a:xfrm>
        </p:grpSpPr>
        <p:sp>
          <p:nvSpPr>
            <p:cNvPr id="86" name="Google Shape;86;p13"/>
            <p:cNvSpPr/>
            <p:nvPr/>
          </p:nvSpPr>
          <p:spPr>
            <a:xfrm>
              <a:off x="0" y="0"/>
              <a:ext cx="741213" cy="169492"/>
            </a:xfrm>
            <a:custGeom>
              <a:rect b="b" l="l" r="r" t="t"/>
              <a:pathLst>
                <a:path extrusionOk="0" h="169492" w="741213">
                  <a:moveTo>
                    <a:pt x="84746" y="0"/>
                  </a:moveTo>
                  <a:lnTo>
                    <a:pt x="656467" y="0"/>
                  </a:lnTo>
                  <a:cubicBezTo>
                    <a:pt x="678943" y="0"/>
                    <a:pt x="700498" y="8929"/>
                    <a:pt x="716391" y="24822"/>
                  </a:cubicBezTo>
                  <a:cubicBezTo>
                    <a:pt x="732284" y="40714"/>
                    <a:pt x="741213" y="62270"/>
                    <a:pt x="741213" y="84746"/>
                  </a:cubicBezTo>
                  <a:lnTo>
                    <a:pt x="741213" y="84746"/>
                  </a:lnTo>
                  <a:cubicBezTo>
                    <a:pt x="741213" y="107222"/>
                    <a:pt x="732284" y="128777"/>
                    <a:pt x="716391" y="144670"/>
                  </a:cubicBezTo>
                  <a:cubicBezTo>
                    <a:pt x="700498" y="160563"/>
                    <a:pt x="678943" y="169492"/>
                    <a:pt x="656467" y="169492"/>
                  </a:cubicBezTo>
                  <a:lnTo>
                    <a:pt x="84746" y="169492"/>
                  </a:lnTo>
                  <a:cubicBezTo>
                    <a:pt x="62270" y="169492"/>
                    <a:pt x="40714" y="160563"/>
                    <a:pt x="24822" y="144670"/>
                  </a:cubicBezTo>
                  <a:cubicBezTo>
                    <a:pt x="8929" y="128777"/>
                    <a:pt x="0" y="107222"/>
                    <a:pt x="0" y="84746"/>
                  </a:cubicBezTo>
                  <a:lnTo>
                    <a:pt x="0" y="84746"/>
                  </a:lnTo>
                  <a:cubicBezTo>
                    <a:pt x="0" y="62270"/>
                    <a:pt x="8929" y="40714"/>
                    <a:pt x="24822" y="24822"/>
                  </a:cubicBezTo>
                  <a:cubicBezTo>
                    <a:pt x="40714" y="8929"/>
                    <a:pt x="62270" y="0"/>
                    <a:pt x="84746" y="0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10588"/>
                  </a:srgbClr>
                </a:gs>
                <a:gs pos="25000">
                  <a:srgbClr val="FFFFFF">
                    <a:alpha val="14901"/>
                  </a:srgbClr>
                </a:gs>
                <a:gs pos="50000">
                  <a:srgbClr val="FFFFFF">
                    <a:alpha val="10196"/>
                  </a:srgbClr>
                </a:gs>
                <a:gs pos="75000">
                  <a:srgbClr val="FFFFFF">
                    <a:alpha val="14901"/>
                  </a:srgbClr>
                </a:gs>
                <a:gs pos="100000">
                  <a:srgbClr val="FFFFFF">
                    <a:alpha val="10196"/>
                  </a:srgbClr>
                </a:gs>
              </a:gsLst>
              <a:lin ang="2700000" scaled="0"/>
            </a:gradFill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13"/>
            <p:cNvSpPr txBox="1"/>
            <p:nvPr/>
          </p:nvSpPr>
          <p:spPr>
            <a:xfrm>
              <a:off x="0" y="85725"/>
              <a:ext cx="741213" cy="837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3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8" name="Google Shape;88;p13"/>
          <p:cNvGrpSpPr/>
          <p:nvPr/>
        </p:nvGrpSpPr>
        <p:grpSpPr>
          <a:xfrm rot="566727">
            <a:off x="10895260" y="-4368833"/>
            <a:ext cx="11215742" cy="11215742"/>
            <a:chOff x="0" y="0"/>
            <a:chExt cx="812800" cy="812800"/>
          </a:xfrm>
        </p:grpSpPr>
        <p:sp>
          <p:nvSpPr>
            <p:cNvPr id="89" name="Google Shape;89;p13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960"/>
                  </a:srgbClr>
                </a:gs>
                <a:gs pos="25000">
                  <a:srgbClr val="FFFFFF">
                    <a:alpha val="3137"/>
                  </a:srgbClr>
                </a:gs>
                <a:gs pos="50000">
                  <a:srgbClr val="FFFFFF">
                    <a:alpha val="1960"/>
                  </a:srgbClr>
                </a:gs>
                <a:gs pos="75000">
                  <a:srgbClr val="FFFFFF">
                    <a:alpha val="3137"/>
                  </a:srgbClr>
                </a:gs>
                <a:gs pos="100000">
                  <a:srgbClr val="FFFFFF">
                    <a:alpha val="1960"/>
                  </a:srgbClr>
                </a:gs>
              </a:gsLst>
              <a:lin ang="2700000" scaled="0"/>
            </a:gradFill>
            <a:ln cap="rnd" cmpd="sng" w="19050">
              <a:solidFill>
                <a:srgbClr val="FFFFFF">
                  <a:alpha val="19607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13"/>
            <p:cNvSpPr txBox="1"/>
            <p:nvPr/>
          </p:nvSpPr>
          <p:spPr>
            <a:xfrm>
              <a:off x="76200" y="161925"/>
              <a:ext cx="660400" cy="5746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3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1" name="Google Shape;91;p13"/>
          <p:cNvGrpSpPr/>
          <p:nvPr/>
        </p:nvGrpSpPr>
        <p:grpSpPr>
          <a:xfrm rot="566727">
            <a:off x="12737741" y="-2526351"/>
            <a:ext cx="7530780" cy="7530780"/>
            <a:chOff x="0" y="0"/>
            <a:chExt cx="812800" cy="812800"/>
          </a:xfrm>
        </p:grpSpPr>
        <p:sp>
          <p:nvSpPr>
            <p:cNvPr id="92" name="Google Shape;92;p13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960"/>
                  </a:srgbClr>
                </a:gs>
                <a:gs pos="25000">
                  <a:srgbClr val="FFFFFF">
                    <a:alpha val="3137"/>
                  </a:srgbClr>
                </a:gs>
                <a:gs pos="50000">
                  <a:srgbClr val="FFFFFF">
                    <a:alpha val="1960"/>
                  </a:srgbClr>
                </a:gs>
                <a:gs pos="75000">
                  <a:srgbClr val="FFFFFF">
                    <a:alpha val="3137"/>
                  </a:srgbClr>
                </a:gs>
                <a:gs pos="100000">
                  <a:srgbClr val="FFFFFF">
                    <a:alpha val="1960"/>
                  </a:srgbClr>
                </a:gs>
              </a:gsLst>
              <a:lin ang="2700000" scaled="0"/>
            </a:gradFill>
            <a:ln cap="rnd" cmpd="sng" w="19050">
              <a:solidFill>
                <a:srgbClr val="FFFFFF">
                  <a:alpha val="19607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13"/>
            <p:cNvSpPr txBox="1"/>
            <p:nvPr/>
          </p:nvSpPr>
          <p:spPr>
            <a:xfrm>
              <a:off x="76200" y="161925"/>
              <a:ext cx="660400" cy="5746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3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4" name="Google Shape;94;p13"/>
          <p:cNvSpPr txBox="1"/>
          <p:nvPr/>
        </p:nvSpPr>
        <p:spPr>
          <a:xfrm>
            <a:off x="1028700" y="1046400"/>
            <a:ext cx="15960900" cy="23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Анализ факторов увольнений (поиск инсайтов, составление рекомендаций</a:t>
            </a:r>
            <a:r>
              <a:rPr b="1" i="0" lang="en-US" sz="6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6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стейкхолдерам)»</a:t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14445008" y="8763873"/>
            <a:ext cx="2814292" cy="3181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19 апреля, 2026</a:t>
            </a:r>
            <a:endParaRPr/>
          </a:p>
        </p:txBody>
      </p:sp>
      <p:grpSp>
        <p:nvGrpSpPr>
          <p:cNvPr id="96" name="Google Shape;96;p13"/>
          <p:cNvGrpSpPr/>
          <p:nvPr/>
        </p:nvGrpSpPr>
        <p:grpSpPr>
          <a:xfrm>
            <a:off x="1028697" y="8516952"/>
            <a:ext cx="5168700" cy="831010"/>
            <a:chOff x="1028697" y="8516952"/>
            <a:chExt cx="5168700" cy="831010"/>
          </a:xfrm>
        </p:grpSpPr>
        <p:sp>
          <p:nvSpPr>
            <p:cNvPr id="97" name="Google Shape;97;p13"/>
            <p:cNvSpPr txBox="1"/>
            <p:nvPr/>
          </p:nvSpPr>
          <p:spPr>
            <a:xfrm>
              <a:off x="1028697" y="8516952"/>
              <a:ext cx="5168700" cy="34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229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Кузьмичкин М. А.</a:t>
              </a:r>
              <a:endParaRPr/>
            </a:p>
          </p:txBody>
        </p:sp>
        <p:sp>
          <p:nvSpPr>
            <p:cNvPr id="98" name="Google Shape;98;p13"/>
            <p:cNvSpPr txBox="1"/>
            <p:nvPr/>
          </p:nvSpPr>
          <p:spPr>
            <a:xfrm>
              <a:off x="1028697" y="9004762"/>
              <a:ext cx="5168700" cy="34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229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Группа: DA-126</a:t>
              </a: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4"/>
          <p:cNvSpPr/>
          <p:nvPr/>
        </p:nvSpPr>
        <p:spPr>
          <a:xfrm rot="10800000"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9222" l="0" r="0" t="-9222"/>
            </a:stretch>
          </a:blipFill>
          <a:ln>
            <a:noFill/>
          </a:ln>
        </p:spPr>
      </p:sp>
      <p:grpSp>
        <p:nvGrpSpPr>
          <p:cNvPr id="104" name="Google Shape;104;p14"/>
          <p:cNvGrpSpPr/>
          <p:nvPr/>
        </p:nvGrpSpPr>
        <p:grpSpPr>
          <a:xfrm rot="-9278497">
            <a:off x="15338536" y="-2692512"/>
            <a:ext cx="9966661" cy="18142438"/>
            <a:chOff x="0" y="0"/>
            <a:chExt cx="812800" cy="1479550"/>
          </a:xfrm>
        </p:grpSpPr>
        <p:sp>
          <p:nvSpPr>
            <p:cNvPr id="105" name="Google Shape;105;p14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176"/>
                  </a:srgbClr>
                </a:gs>
                <a:gs pos="25000">
                  <a:srgbClr val="FFFFFF">
                    <a:alpha val="1960"/>
                  </a:srgbClr>
                </a:gs>
                <a:gs pos="50000">
                  <a:srgbClr val="FFFFFF">
                    <a:alpha val="1176"/>
                  </a:srgbClr>
                </a:gs>
                <a:gs pos="75000">
                  <a:srgbClr val="FFFFFF">
                    <a:alpha val="1960"/>
                  </a:srgbClr>
                </a:gs>
                <a:gs pos="100000">
                  <a:srgbClr val="FFFFFF">
                    <a:alpha val="1176"/>
                  </a:srgbClr>
                </a:gs>
              </a:gsLst>
              <a:lin ang="2700000" scaled="0"/>
            </a:gradFill>
            <a:ln cap="rnd" cmpd="sng" w="19050">
              <a:solidFill>
                <a:srgbClr val="FFFFFF">
                  <a:alpha val="12941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14"/>
            <p:cNvSpPr txBox="1"/>
            <p:nvPr/>
          </p:nvSpPr>
          <p:spPr>
            <a:xfrm>
              <a:off x="76200" y="819150"/>
              <a:ext cx="660400" cy="66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1092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7" name="Google Shape;107;p14"/>
          <p:cNvGrpSpPr/>
          <p:nvPr/>
        </p:nvGrpSpPr>
        <p:grpSpPr>
          <a:xfrm rot="-9278497">
            <a:off x="15438586" y="6668025"/>
            <a:ext cx="6254675" cy="6254675"/>
            <a:chOff x="0" y="0"/>
            <a:chExt cx="812800" cy="812800"/>
          </a:xfrm>
        </p:grpSpPr>
        <p:sp>
          <p:nvSpPr>
            <p:cNvPr id="108" name="Google Shape;108;p14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176"/>
                  </a:srgbClr>
                </a:gs>
                <a:gs pos="25000">
                  <a:srgbClr val="FFFFFF">
                    <a:alpha val="1960"/>
                  </a:srgbClr>
                </a:gs>
                <a:gs pos="50000">
                  <a:srgbClr val="FFFFFF">
                    <a:alpha val="1176"/>
                  </a:srgbClr>
                </a:gs>
                <a:gs pos="75000">
                  <a:srgbClr val="FFFFFF">
                    <a:alpha val="1960"/>
                  </a:srgbClr>
                </a:gs>
                <a:gs pos="100000">
                  <a:srgbClr val="FFFFFF">
                    <a:alpha val="1176"/>
                  </a:srgbClr>
                </a:gs>
              </a:gsLst>
              <a:lin ang="2700000" scaled="0"/>
            </a:gradFill>
            <a:ln cap="rnd" cmpd="sng" w="19050">
              <a:solidFill>
                <a:srgbClr val="FFFFFF">
                  <a:alpha val="12941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4"/>
            <p:cNvSpPr txBox="1"/>
            <p:nvPr/>
          </p:nvSpPr>
          <p:spPr>
            <a:xfrm>
              <a:off x="76200" y="161925"/>
              <a:ext cx="660400" cy="5746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3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0" name="Google Shape;110;p14"/>
          <p:cNvGrpSpPr/>
          <p:nvPr/>
        </p:nvGrpSpPr>
        <p:grpSpPr>
          <a:xfrm rot="-9278497">
            <a:off x="-4052478" y="-11987378"/>
            <a:ext cx="9966661" cy="18142438"/>
            <a:chOff x="0" y="0"/>
            <a:chExt cx="812800" cy="1479550"/>
          </a:xfrm>
        </p:grpSpPr>
        <p:sp>
          <p:nvSpPr>
            <p:cNvPr id="111" name="Google Shape;111;p14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176"/>
                  </a:srgbClr>
                </a:gs>
                <a:gs pos="25000">
                  <a:srgbClr val="FFFFFF">
                    <a:alpha val="1960"/>
                  </a:srgbClr>
                </a:gs>
                <a:gs pos="50000">
                  <a:srgbClr val="FFFFFF">
                    <a:alpha val="1176"/>
                  </a:srgbClr>
                </a:gs>
                <a:gs pos="75000">
                  <a:srgbClr val="FFFFFF">
                    <a:alpha val="1960"/>
                  </a:srgbClr>
                </a:gs>
                <a:gs pos="100000">
                  <a:srgbClr val="FFFFFF">
                    <a:alpha val="1176"/>
                  </a:srgbClr>
                </a:gs>
              </a:gsLst>
              <a:lin ang="2700000" scaled="0"/>
            </a:gradFill>
            <a:ln cap="rnd" cmpd="sng" w="19050">
              <a:solidFill>
                <a:srgbClr val="FFFFFF">
                  <a:alpha val="12941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4"/>
            <p:cNvSpPr txBox="1"/>
            <p:nvPr/>
          </p:nvSpPr>
          <p:spPr>
            <a:xfrm>
              <a:off x="76200" y="819150"/>
              <a:ext cx="660400" cy="66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1092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3" name="Google Shape;113;p14"/>
          <p:cNvGrpSpPr/>
          <p:nvPr/>
        </p:nvGrpSpPr>
        <p:grpSpPr>
          <a:xfrm rot="-9278497">
            <a:off x="-2997112" y="-1545956"/>
            <a:ext cx="5213104" cy="5213104"/>
            <a:chOff x="0" y="0"/>
            <a:chExt cx="812800" cy="812800"/>
          </a:xfrm>
        </p:grpSpPr>
        <p:sp>
          <p:nvSpPr>
            <p:cNvPr id="114" name="Google Shape;114;p14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176"/>
                  </a:srgbClr>
                </a:gs>
                <a:gs pos="25000">
                  <a:srgbClr val="FFFFFF">
                    <a:alpha val="1960"/>
                  </a:srgbClr>
                </a:gs>
                <a:gs pos="50000">
                  <a:srgbClr val="FFFFFF">
                    <a:alpha val="1176"/>
                  </a:srgbClr>
                </a:gs>
                <a:gs pos="75000">
                  <a:srgbClr val="FFFFFF">
                    <a:alpha val="1960"/>
                  </a:srgbClr>
                </a:gs>
                <a:gs pos="100000">
                  <a:srgbClr val="FFFFFF">
                    <a:alpha val="1176"/>
                  </a:srgbClr>
                </a:gs>
              </a:gsLst>
              <a:lin ang="2700000" scaled="0"/>
            </a:gradFill>
            <a:ln cap="rnd" cmpd="sng" w="19050">
              <a:solidFill>
                <a:srgbClr val="FFFFFF">
                  <a:alpha val="12941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4"/>
            <p:cNvSpPr txBox="1"/>
            <p:nvPr/>
          </p:nvSpPr>
          <p:spPr>
            <a:xfrm>
              <a:off x="76200" y="161925"/>
              <a:ext cx="660400" cy="5746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3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6" name="Google Shape;116;p14"/>
          <p:cNvGrpSpPr/>
          <p:nvPr/>
        </p:nvGrpSpPr>
        <p:grpSpPr>
          <a:xfrm>
            <a:off x="940250" y="4366174"/>
            <a:ext cx="16407437" cy="4043665"/>
            <a:chOff x="0" y="0"/>
            <a:chExt cx="4392653" cy="1725481"/>
          </a:xfrm>
        </p:grpSpPr>
        <p:sp>
          <p:nvSpPr>
            <p:cNvPr id="117" name="Google Shape;117;p14"/>
            <p:cNvSpPr/>
            <p:nvPr/>
          </p:nvSpPr>
          <p:spPr>
            <a:xfrm>
              <a:off x="0" y="0"/>
              <a:ext cx="4392653" cy="1725481"/>
            </a:xfrm>
            <a:custGeom>
              <a:rect b="b" l="l" r="r" t="t"/>
              <a:pathLst>
                <a:path extrusionOk="0" h="1725481" w="4392653">
                  <a:moveTo>
                    <a:pt x="24065" y="0"/>
                  </a:moveTo>
                  <a:lnTo>
                    <a:pt x="4368588" y="0"/>
                  </a:lnTo>
                  <a:cubicBezTo>
                    <a:pt x="4381879" y="0"/>
                    <a:pt x="4392653" y="10774"/>
                    <a:pt x="4392653" y="24065"/>
                  </a:cubicBezTo>
                  <a:lnTo>
                    <a:pt x="4392653" y="1701416"/>
                  </a:lnTo>
                  <a:cubicBezTo>
                    <a:pt x="4392653" y="1714707"/>
                    <a:pt x="4381879" y="1725481"/>
                    <a:pt x="4368588" y="1725481"/>
                  </a:cubicBezTo>
                  <a:lnTo>
                    <a:pt x="24065" y="1725481"/>
                  </a:lnTo>
                  <a:cubicBezTo>
                    <a:pt x="10774" y="1725481"/>
                    <a:pt x="0" y="1714707"/>
                    <a:pt x="0" y="1701416"/>
                  </a:cubicBezTo>
                  <a:lnTo>
                    <a:pt x="0" y="24065"/>
                  </a:lnTo>
                  <a:cubicBezTo>
                    <a:pt x="0" y="10774"/>
                    <a:pt x="10774" y="0"/>
                    <a:pt x="24065" y="0"/>
                  </a:cubicBez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rgbClr val="DBD8D8"/>
                </a:gs>
              </a:gsLst>
              <a:lin ang="5400000" scaled="0"/>
            </a:gradFill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4"/>
            <p:cNvSpPr txBox="1"/>
            <p:nvPr/>
          </p:nvSpPr>
          <p:spPr>
            <a:xfrm>
              <a:off x="0" y="85725"/>
              <a:ext cx="4392653" cy="163975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3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9" name="Google Shape;119;p14"/>
          <p:cNvSpPr txBox="1"/>
          <p:nvPr/>
        </p:nvSpPr>
        <p:spPr>
          <a:xfrm>
            <a:off x="1028700" y="827381"/>
            <a:ext cx="8547528" cy="17849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9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Описание бизнес-задачи</a:t>
            </a:r>
            <a:endParaRPr/>
          </a:p>
        </p:txBody>
      </p:sp>
      <p:sp>
        <p:nvSpPr>
          <p:cNvPr id="120" name="Google Shape;120;p14"/>
          <p:cNvSpPr txBox="1"/>
          <p:nvPr/>
        </p:nvSpPr>
        <p:spPr>
          <a:xfrm>
            <a:off x="1471798" y="4733718"/>
            <a:ext cx="15344400" cy="10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6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899" u="none" cap="none" strike="noStrike">
                <a:solidFill>
                  <a:srgbClr val="0E0637"/>
                </a:solidFill>
              </a:rPr>
              <a:t>Бизнес-задача заключается в выявлении основных тенденций и ключевых факторов, влияющих на отток сотрудников, а также оценке влияния и формировании рекомендаций по снижению текучести. Актуальность проекта заключается в снижении затрат связанных с подбором и обучением нового персонала и снижении нагрузки на отдел кадров </a:t>
            </a:r>
            <a:endParaRPr/>
          </a:p>
        </p:txBody>
      </p:sp>
      <p:sp>
        <p:nvSpPr>
          <p:cNvPr id="121" name="Google Shape;121;p14"/>
          <p:cNvSpPr txBox="1"/>
          <p:nvPr/>
        </p:nvSpPr>
        <p:spPr>
          <a:xfrm>
            <a:off x="1471802" y="6147807"/>
            <a:ext cx="15344400" cy="18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6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899" u="none" cap="none" strike="noStrike">
                <a:solidFill>
                  <a:srgbClr val="0E0637"/>
                </a:solidFill>
              </a:rPr>
              <a:t>Отдел кадров заинтересован в выявлении факторов, влияющих на отток кадров, и определении групп сотрудников более склонных покинуть компанию. </a:t>
            </a:r>
            <a:endParaRPr/>
          </a:p>
          <a:p>
            <a:pPr indent="0" lvl="0" marL="0" marR="0" rtl="0" algn="l">
              <a:lnSpc>
                <a:spcPct val="136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899" u="none" cap="none" strike="noStrike">
                <a:solidFill>
                  <a:srgbClr val="0E0637"/>
                </a:solidFill>
              </a:rPr>
              <a:t>Высший менеджмент заинтересован в получении агрегированной информации о ключеввых факторах оттока для принятия решений на основе полученной информации.</a:t>
            </a:r>
            <a:endParaRPr/>
          </a:p>
          <a:p>
            <a:pPr indent="0" lvl="0" marL="0" marR="0" rtl="0" algn="l">
              <a:lnSpc>
                <a:spcPct val="136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899" u="none" cap="none" strike="noStrike">
                <a:solidFill>
                  <a:srgbClr val="0E0637"/>
                </a:solidFill>
              </a:rPr>
              <a:t>Руководители подразделений заинтересованы в снижении оттока кадров через управляемые ими факторы. 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5"/>
          <p:cNvSpPr/>
          <p:nvPr/>
        </p:nvSpPr>
        <p:spPr>
          <a:xfrm flipH="1"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9222" l="0" r="0" t="-9222"/>
            </a:stretch>
          </a:blipFill>
          <a:ln>
            <a:noFill/>
          </a:ln>
        </p:spPr>
      </p:sp>
      <p:sp>
        <p:nvSpPr>
          <p:cNvPr id="127" name="Google Shape;127;p15"/>
          <p:cNvSpPr/>
          <p:nvPr/>
        </p:nvSpPr>
        <p:spPr>
          <a:xfrm flipH="1" rot="5400000">
            <a:off x="8948515" y="6991105"/>
            <a:ext cx="4029852" cy="798643"/>
          </a:xfrm>
          <a:custGeom>
            <a:rect b="b" l="l" r="r" t="t"/>
            <a:pathLst>
              <a:path extrusionOk="0" h="798643" w="4029852">
                <a:moveTo>
                  <a:pt x="0" y="798643"/>
                </a:moveTo>
                <a:lnTo>
                  <a:pt x="4029852" y="798643"/>
                </a:lnTo>
                <a:lnTo>
                  <a:pt x="4029852" y="0"/>
                </a:lnTo>
                <a:lnTo>
                  <a:pt x="0" y="0"/>
                </a:lnTo>
                <a:lnTo>
                  <a:pt x="0" y="798643"/>
                </a:lnTo>
                <a:close/>
              </a:path>
            </a:pathLst>
          </a:custGeom>
          <a:blipFill rotWithShape="1">
            <a:blip r:embed="rId4">
              <a:alphaModFix amt="56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8" name="Google Shape;128;p15"/>
          <p:cNvSpPr/>
          <p:nvPr/>
        </p:nvSpPr>
        <p:spPr>
          <a:xfrm flipH="1">
            <a:off x="4682729" y="5151555"/>
            <a:ext cx="5725382" cy="1134667"/>
          </a:xfrm>
          <a:custGeom>
            <a:rect b="b" l="l" r="r" t="t"/>
            <a:pathLst>
              <a:path extrusionOk="0" h="1134667" w="5725382">
                <a:moveTo>
                  <a:pt x="0" y="1134666"/>
                </a:moveTo>
                <a:lnTo>
                  <a:pt x="5725382" y="1134666"/>
                </a:lnTo>
                <a:lnTo>
                  <a:pt x="5725382" y="0"/>
                </a:lnTo>
                <a:lnTo>
                  <a:pt x="0" y="0"/>
                </a:lnTo>
                <a:lnTo>
                  <a:pt x="0" y="1134666"/>
                </a:lnTo>
                <a:close/>
              </a:path>
            </a:pathLst>
          </a:custGeom>
          <a:blipFill rotWithShape="1">
            <a:blip r:embed="rId4">
              <a:alphaModFix amt="56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9" name="Google Shape;129;p15"/>
          <p:cNvSpPr/>
          <p:nvPr/>
        </p:nvSpPr>
        <p:spPr>
          <a:xfrm flipH="1">
            <a:off x="10674391" y="5134481"/>
            <a:ext cx="6776142" cy="1342908"/>
          </a:xfrm>
          <a:custGeom>
            <a:rect b="b" l="l" r="r" t="t"/>
            <a:pathLst>
              <a:path extrusionOk="0" h="1342908" w="6776142">
                <a:moveTo>
                  <a:pt x="0" y="1342908"/>
                </a:moveTo>
                <a:lnTo>
                  <a:pt x="6776142" y="1342908"/>
                </a:lnTo>
                <a:lnTo>
                  <a:pt x="6776142" y="0"/>
                </a:lnTo>
                <a:lnTo>
                  <a:pt x="0" y="0"/>
                </a:lnTo>
                <a:lnTo>
                  <a:pt x="0" y="1342908"/>
                </a:lnTo>
                <a:close/>
              </a:path>
            </a:pathLst>
          </a:custGeom>
          <a:blipFill rotWithShape="1">
            <a:blip r:embed="rId4">
              <a:alphaModFix amt="56000"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30" name="Google Shape;130;p15"/>
          <p:cNvGrpSpPr/>
          <p:nvPr/>
        </p:nvGrpSpPr>
        <p:grpSpPr>
          <a:xfrm>
            <a:off x="1150352" y="4552986"/>
            <a:ext cx="7044962" cy="3805886"/>
            <a:chOff x="0" y="0"/>
            <a:chExt cx="2661284" cy="1437700"/>
          </a:xfrm>
        </p:grpSpPr>
        <p:sp>
          <p:nvSpPr>
            <p:cNvPr id="131" name="Google Shape;131;p15"/>
            <p:cNvSpPr/>
            <p:nvPr/>
          </p:nvSpPr>
          <p:spPr>
            <a:xfrm>
              <a:off x="0" y="0"/>
              <a:ext cx="2661284" cy="1437700"/>
            </a:xfrm>
            <a:custGeom>
              <a:rect b="b" l="l" r="r" t="t"/>
              <a:pathLst>
                <a:path extrusionOk="0" h="1437700" w="2661284">
                  <a:moveTo>
                    <a:pt x="56045" y="0"/>
                  </a:moveTo>
                  <a:lnTo>
                    <a:pt x="2605238" y="0"/>
                  </a:lnTo>
                  <a:cubicBezTo>
                    <a:pt x="2636191" y="0"/>
                    <a:pt x="2661284" y="25092"/>
                    <a:pt x="2661284" y="56045"/>
                  </a:cubicBezTo>
                  <a:lnTo>
                    <a:pt x="2661284" y="1381655"/>
                  </a:lnTo>
                  <a:cubicBezTo>
                    <a:pt x="2661284" y="1412608"/>
                    <a:pt x="2636191" y="1437700"/>
                    <a:pt x="2605238" y="1437700"/>
                  </a:cubicBezTo>
                  <a:lnTo>
                    <a:pt x="56045" y="1437700"/>
                  </a:lnTo>
                  <a:cubicBezTo>
                    <a:pt x="25092" y="1437700"/>
                    <a:pt x="0" y="1412608"/>
                    <a:pt x="0" y="1381655"/>
                  </a:cubicBezTo>
                  <a:lnTo>
                    <a:pt x="0" y="56045"/>
                  </a:lnTo>
                  <a:cubicBezTo>
                    <a:pt x="0" y="25092"/>
                    <a:pt x="25092" y="0"/>
                    <a:pt x="56045" y="0"/>
                  </a:cubicBez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rgbClr val="DBD8D8"/>
                </a:gs>
              </a:gsLst>
              <a:lin ang="5400000" scaled="0"/>
            </a:gradFill>
            <a:ln cap="rnd" cmpd="sng" w="19050">
              <a:solidFill>
                <a:srgbClr val="C55CD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15"/>
            <p:cNvSpPr txBox="1"/>
            <p:nvPr/>
          </p:nvSpPr>
          <p:spPr>
            <a:xfrm>
              <a:off x="0" y="85725"/>
              <a:ext cx="2661284" cy="13519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3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3" name="Google Shape;133;p15"/>
          <p:cNvGrpSpPr/>
          <p:nvPr/>
        </p:nvGrpSpPr>
        <p:grpSpPr>
          <a:xfrm>
            <a:off x="8548063" y="4552986"/>
            <a:ext cx="8653481" cy="3805886"/>
            <a:chOff x="0" y="0"/>
            <a:chExt cx="3268913" cy="1437700"/>
          </a:xfrm>
        </p:grpSpPr>
        <p:sp>
          <p:nvSpPr>
            <p:cNvPr id="134" name="Google Shape;134;p15"/>
            <p:cNvSpPr/>
            <p:nvPr/>
          </p:nvSpPr>
          <p:spPr>
            <a:xfrm>
              <a:off x="0" y="0"/>
              <a:ext cx="3268913" cy="1437700"/>
            </a:xfrm>
            <a:custGeom>
              <a:rect b="b" l="l" r="r" t="t"/>
              <a:pathLst>
                <a:path extrusionOk="0" h="1437700" w="3268913">
                  <a:moveTo>
                    <a:pt x="45628" y="0"/>
                  </a:moveTo>
                  <a:lnTo>
                    <a:pt x="3223286" y="0"/>
                  </a:lnTo>
                  <a:cubicBezTo>
                    <a:pt x="3248485" y="0"/>
                    <a:pt x="3268913" y="20428"/>
                    <a:pt x="3268913" y="45628"/>
                  </a:cubicBezTo>
                  <a:lnTo>
                    <a:pt x="3268913" y="1392072"/>
                  </a:lnTo>
                  <a:cubicBezTo>
                    <a:pt x="3268913" y="1404174"/>
                    <a:pt x="3264106" y="1415779"/>
                    <a:pt x="3255549" y="1424336"/>
                  </a:cubicBezTo>
                  <a:cubicBezTo>
                    <a:pt x="3246992" y="1432893"/>
                    <a:pt x="3235387" y="1437700"/>
                    <a:pt x="3223286" y="1437700"/>
                  </a:cubicBezTo>
                  <a:lnTo>
                    <a:pt x="45628" y="1437700"/>
                  </a:lnTo>
                  <a:cubicBezTo>
                    <a:pt x="33526" y="1437700"/>
                    <a:pt x="21921" y="1432893"/>
                    <a:pt x="13364" y="1424336"/>
                  </a:cubicBezTo>
                  <a:cubicBezTo>
                    <a:pt x="4807" y="1415779"/>
                    <a:pt x="0" y="1404174"/>
                    <a:pt x="0" y="1392072"/>
                  </a:cubicBezTo>
                  <a:lnTo>
                    <a:pt x="0" y="45628"/>
                  </a:lnTo>
                  <a:cubicBezTo>
                    <a:pt x="0" y="33526"/>
                    <a:pt x="4807" y="21921"/>
                    <a:pt x="13364" y="13364"/>
                  </a:cubicBezTo>
                  <a:cubicBezTo>
                    <a:pt x="21921" y="4807"/>
                    <a:pt x="33526" y="0"/>
                    <a:pt x="45628" y="0"/>
                  </a:cubicBezTo>
                  <a:close/>
                </a:path>
              </a:pathLst>
            </a:custGeom>
            <a:gradFill>
              <a:gsLst>
                <a:gs pos="0">
                  <a:srgbClr val="C55CD1"/>
                </a:gs>
                <a:gs pos="100000">
                  <a:srgbClr val="923ACD"/>
                </a:gs>
              </a:gsLst>
              <a:lin ang="2700000" scaled="0"/>
            </a:gradFill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15"/>
            <p:cNvSpPr txBox="1"/>
            <p:nvPr/>
          </p:nvSpPr>
          <p:spPr>
            <a:xfrm>
              <a:off x="0" y="85725"/>
              <a:ext cx="3268913" cy="13519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3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6" name="Google Shape;136;p15"/>
          <p:cNvGrpSpPr/>
          <p:nvPr/>
        </p:nvGrpSpPr>
        <p:grpSpPr>
          <a:xfrm rot="-9278497">
            <a:off x="13968970" y="-14477720"/>
            <a:ext cx="9966661" cy="18142438"/>
            <a:chOff x="0" y="0"/>
            <a:chExt cx="812800" cy="1479550"/>
          </a:xfrm>
        </p:grpSpPr>
        <p:sp>
          <p:nvSpPr>
            <p:cNvPr id="137" name="Google Shape;137;p15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176"/>
                  </a:srgbClr>
                </a:gs>
                <a:gs pos="25000">
                  <a:srgbClr val="FFFFFF">
                    <a:alpha val="1568"/>
                  </a:srgbClr>
                </a:gs>
                <a:gs pos="50000">
                  <a:srgbClr val="FFFFFF">
                    <a:alpha val="1176"/>
                  </a:srgbClr>
                </a:gs>
                <a:gs pos="75000">
                  <a:srgbClr val="FFFFFF">
                    <a:alpha val="1568"/>
                  </a:srgbClr>
                </a:gs>
                <a:gs pos="100000">
                  <a:srgbClr val="FFFFFF">
                    <a:alpha val="1176"/>
                  </a:srgbClr>
                </a:gs>
              </a:gsLst>
              <a:lin ang="2700000" scaled="0"/>
            </a:gradFill>
            <a:ln cap="rnd" cmpd="sng" w="19050">
              <a:solidFill>
                <a:srgbClr val="FFFFFF">
                  <a:alpha val="10980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5"/>
            <p:cNvSpPr txBox="1"/>
            <p:nvPr/>
          </p:nvSpPr>
          <p:spPr>
            <a:xfrm>
              <a:off x="76200" y="819150"/>
              <a:ext cx="660400" cy="66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1092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9" name="Google Shape;139;p15"/>
          <p:cNvGrpSpPr/>
          <p:nvPr/>
        </p:nvGrpSpPr>
        <p:grpSpPr>
          <a:xfrm rot="-9278497">
            <a:off x="14620041" y="-3792460"/>
            <a:ext cx="5213104" cy="5213104"/>
            <a:chOff x="0" y="0"/>
            <a:chExt cx="812800" cy="812800"/>
          </a:xfrm>
        </p:grpSpPr>
        <p:sp>
          <p:nvSpPr>
            <p:cNvPr id="140" name="Google Shape;140;p15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176"/>
                  </a:srgbClr>
                </a:gs>
                <a:gs pos="25000">
                  <a:srgbClr val="FFFFFF">
                    <a:alpha val="1568"/>
                  </a:srgbClr>
                </a:gs>
                <a:gs pos="50000">
                  <a:srgbClr val="FFFFFF">
                    <a:alpha val="1176"/>
                  </a:srgbClr>
                </a:gs>
                <a:gs pos="75000">
                  <a:srgbClr val="FFFFFF">
                    <a:alpha val="1568"/>
                  </a:srgbClr>
                </a:gs>
                <a:gs pos="100000">
                  <a:srgbClr val="FFFFFF">
                    <a:alpha val="1176"/>
                  </a:srgbClr>
                </a:gs>
              </a:gsLst>
              <a:lin ang="2700000" scaled="0"/>
            </a:gradFill>
            <a:ln cap="rnd" cmpd="sng" w="19050">
              <a:solidFill>
                <a:srgbClr val="FFFFFF">
                  <a:alpha val="10980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p15"/>
            <p:cNvSpPr txBox="1"/>
            <p:nvPr/>
          </p:nvSpPr>
          <p:spPr>
            <a:xfrm>
              <a:off x="76200" y="161925"/>
              <a:ext cx="660400" cy="5746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3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42" name="Google Shape;142;p15"/>
          <p:cNvCxnSpPr/>
          <p:nvPr/>
        </p:nvCxnSpPr>
        <p:spPr>
          <a:xfrm>
            <a:off x="9027311" y="5663270"/>
            <a:ext cx="7709610" cy="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3" name="Google Shape;143;p15"/>
          <p:cNvCxnSpPr/>
          <p:nvPr/>
        </p:nvCxnSpPr>
        <p:spPr>
          <a:xfrm>
            <a:off x="1536029" y="5672795"/>
            <a:ext cx="6098318" cy="0"/>
          </a:xfrm>
          <a:prstGeom prst="straightConnector1">
            <a:avLst/>
          </a:prstGeom>
          <a:noFill/>
          <a:ln cap="flat" cmpd="sng" w="19050">
            <a:solidFill>
              <a:srgbClr val="0E063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4" name="Google Shape;144;p15"/>
          <p:cNvSpPr txBox="1"/>
          <p:nvPr/>
        </p:nvSpPr>
        <p:spPr>
          <a:xfrm>
            <a:off x="1028700" y="725405"/>
            <a:ext cx="10083044" cy="17849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9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Описание данных и их предобработки</a:t>
            </a:r>
            <a:endParaRPr/>
          </a:p>
        </p:txBody>
      </p:sp>
      <p:sp>
        <p:nvSpPr>
          <p:cNvPr id="145" name="Google Shape;145;p15"/>
          <p:cNvSpPr txBox="1"/>
          <p:nvPr/>
        </p:nvSpPr>
        <p:spPr>
          <a:xfrm>
            <a:off x="1536029" y="4902674"/>
            <a:ext cx="5595421" cy="594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70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85" u="none" cap="none" strike="noStrike">
                <a:solidFill>
                  <a:srgbClr val="0E0637"/>
                </a:solidFill>
                <a:latin typeface="Arial"/>
                <a:ea typeface="Arial"/>
                <a:cs typeface="Arial"/>
                <a:sym typeface="Arial"/>
              </a:rPr>
              <a:t>Подготовка данных</a:t>
            </a:r>
            <a:endParaRPr/>
          </a:p>
        </p:txBody>
      </p:sp>
      <p:sp>
        <p:nvSpPr>
          <p:cNvPr id="146" name="Google Shape;146;p15"/>
          <p:cNvSpPr txBox="1"/>
          <p:nvPr/>
        </p:nvSpPr>
        <p:spPr>
          <a:xfrm>
            <a:off x="9027311" y="4912994"/>
            <a:ext cx="5595421" cy="594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70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8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Аномалии данных</a:t>
            </a:r>
            <a:endParaRPr/>
          </a:p>
        </p:txBody>
      </p:sp>
      <p:sp>
        <p:nvSpPr>
          <p:cNvPr id="147" name="Google Shape;147;p15"/>
          <p:cNvSpPr txBox="1"/>
          <p:nvPr/>
        </p:nvSpPr>
        <p:spPr>
          <a:xfrm>
            <a:off x="1150352" y="2903529"/>
            <a:ext cx="10674600" cy="15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6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Датасет “</a:t>
            </a:r>
            <a:r>
              <a:rPr b="0" i="0" lang="en-US" sz="1999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5"/>
              </a:rPr>
              <a:t>IBM HR Analytics Employee Attrition &amp; Performance</a:t>
            </a:r>
            <a:r>
              <a:rPr b="0" i="0" lang="en-US" sz="19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” содержит информацию о 1470 сотрудниках и включает их личные данные, данные о карьере и общем уровне удовлетворенности. Датасет </a:t>
            </a:r>
            <a:r>
              <a:rPr lang="en-US" sz="1999">
                <a:solidFill>
                  <a:srgbClr val="FFFFFF"/>
                </a:solidFill>
              </a:rPr>
              <a:t>размещен</a:t>
            </a:r>
            <a:r>
              <a:rPr b="0" i="0" lang="en-US" sz="19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на платформе Kaggle.</a:t>
            </a:r>
            <a:endParaRPr/>
          </a:p>
          <a:p>
            <a:pPr indent="0" lvl="0" marL="0" marR="0" rtl="0" algn="l">
              <a:lnSpc>
                <a:spcPct val="136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99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15"/>
          <p:cNvSpPr txBox="1"/>
          <p:nvPr/>
        </p:nvSpPr>
        <p:spPr>
          <a:xfrm>
            <a:off x="1536029" y="5820221"/>
            <a:ext cx="6098318" cy="22801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6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94" u="none" cap="none" strike="noStrike">
                <a:solidFill>
                  <a:srgbClr val="0E0637"/>
                </a:solidFill>
                <a:latin typeface="Arial"/>
                <a:ea typeface="Arial"/>
                <a:cs typeface="Arial"/>
                <a:sym typeface="Arial"/>
              </a:rPr>
              <a:t>На этапе подготовки данных анализ показал, что пропуски и дубликаты отсутствуют. Впоследствии были удалены неинформативные признаки с одним значением (EmployeeCount, Over18, StandardHours).</a:t>
            </a:r>
            <a:endParaRPr/>
          </a:p>
          <a:p>
            <a:pPr indent="0" lvl="0" marL="0" marR="0" rtl="0" algn="l">
              <a:lnSpc>
                <a:spcPct val="136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94" u="none" cap="none" strike="noStrike">
                <a:solidFill>
                  <a:srgbClr val="0E0637"/>
                </a:solidFill>
                <a:latin typeface="Arial"/>
                <a:ea typeface="Arial"/>
                <a:cs typeface="Arial"/>
                <a:sym typeface="Arial"/>
              </a:rPr>
              <a:t> На этапе преобразования категориальные переменные Attrition, Gender, OverTime и BusinessTravel были переведены переведены в целочисленный формат для упрощения анализа.</a:t>
            </a:r>
            <a:endParaRPr/>
          </a:p>
        </p:txBody>
      </p:sp>
      <p:sp>
        <p:nvSpPr>
          <p:cNvPr id="149" name="Google Shape;149;p15"/>
          <p:cNvSpPr txBox="1"/>
          <p:nvPr/>
        </p:nvSpPr>
        <p:spPr>
          <a:xfrm>
            <a:off x="9019999" y="5858069"/>
            <a:ext cx="7709700" cy="16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С целью поиска аномалий была проведена проверка на логические противоречия между признакам. Аномалий не было выявлено, данные согласованы. Дополнительно был </a:t>
            </a:r>
            <a:r>
              <a:rPr lang="en-US" sz="1700">
                <a:solidFill>
                  <a:srgbClr val="FFFFFF"/>
                </a:solidFill>
              </a:rPr>
              <a:t>применен</a:t>
            </a:r>
            <a:r>
              <a:rPr b="0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метод 5% и 95% перцентилей: выявлено 908 наблюдений (61,7%), что свидетельствует о вариативности данных и наличии естественных экстремальных значений.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6"/>
          <p:cNvSpPr/>
          <p:nvPr/>
        </p:nvSpPr>
        <p:spPr>
          <a:xfrm rot="10800000"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9222" l="0" r="0" t="-9222"/>
            </a:stretch>
          </a:blipFill>
          <a:ln>
            <a:noFill/>
          </a:ln>
        </p:spPr>
      </p:sp>
      <p:grpSp>
        <p:nvGrpSpPr>
          <p:cNvPr id="155" name="Google Shape;155;p16"/>
          <p:cNvGrpSpPr/>
          <p:nvPr/>
        </p:nvGrpSpPr>
        <p:grpSpPr>
          <a:xfrm rot="-9278497">
            <a:off x="15338536" y="-2692512"/>
            <a:ext cx="9966661" cy="18142438"/>
            <a:chOff x="0" y="0"/>
            <a:chExt cx="812800" cy="1479550"/>
          </a:xfrm>
        </p:grpSpPr>
        <p:sp>
          <p:nvSpPr>
            <p:cNvPr id="156" name="Google Shape;156;p16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176"/>
                  </a:srgbClr>
                </a:gs>
                <a:gs pos="25000">
                  <a:srgbClr val="FFFFFF">
                    <a:alpha val="1960"/>
                  </a:srgbClr>
                </a:gs>
                <a:gs pos="50000">
                  <a:srgbClr val="FFFFFF">
                    <a:alpha val="1176"/>
                  </a:srgbClr>
                </a:gs>
                <a:gs pos="75000">
                  <a:srgbClr val="FFFFFF">
                    <a:alpha val="1960"/>
                  </a:srgbClr>
                </a:gs>
                <a:gs pos="100000">
                  <a:srgbClr val="FFFFFF">
                    <a:alpha val="1176"/>
                  </a:srgbClr>
                </a:gs>
              </a:gsLst>
              <a:lin ang="2700000" scaled="0"/>
            </a:gradFill>
            <a:ln cap="rnd" cmpd="sng" w="19050">
              <a:solidFill>
                <a:srgbClr val="FFFFFF">
                  <a:alpha val="12941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16"/>
            <p:cNvSpPr txBox="1"/>
            <p:nvPr/>
          </p:nvSpPr>
          <p:spPr>
            <a:xfrm>
              <a:off x="76200" y="819150"/>
              <a:ext cx="660400" cy="66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1092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8" name="Google Shape;158;p16"/>
          <p:cNvGrpSpPr/>
          <p:nvPr/>
        </p:nvGrpSpPr>
        <p:grpSpPr>
          <a:xfrm rot="-9278497">
            <a:off x="15438586" y="6668025"/>
            <a:ext cx="6254675" cy="6254675"/>
            <a:chOff x="0" y="0"/>
            <a:chExt cx="812800" cy="812800"/>
          </a:xfrm>
        </p:grpSpPr>
        <p:sp>
          <p:nvSpPr>
            <p:cNvPr id="159" name="Google Shape;159;p16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176"/>
                  </a:srgbClr>
                </a:gs>
                <a:gs pos="25000">
                  <a:srgbClr val="FFFFFF">
                    <a:alpha val="1960"/>
                  </a:srgbClr>
                </a:gs>
                <a:gs pos="50000">
                  <a:srgbClr val="FFFFFF">
                    <a:alpha val="1176"/>
                  </a:srgbClr>
                </a:gs>
                <a:gs pos="75000">
                  <a:srgbClr val="FFFFFF">
                    <a:alpha val="1960"/>
                  </a:srgbClr>
                </a:gs>
                <a:gs pos="100000">
                  <a:srgbClr val="FFFFFF">
                    <a:alpha val="1176"/>
                  </a:srgbClr>
                </a:gs>
              </a:gsLst>
              <a:lin ang="2700000" scaled="0"/>
            </a:gradFill>
            <a:ln cap="rnd" cmpd="sng" w="19050">
              <a:solidFill>
                <a:srgbClr val="FFFFFF">
                  <a:alpha val="12941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16"/>
            <p:cNvSpPr txBox="1"/>
            <p:nvPr/>
          </p:nvSpPr>
          <p:spPr>
            <a:xfrm>
              <a:off x="76200" y="161925"/>
              <a:ext cx="660400" cy="5746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3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1" name="Google Shape;161;p16"/>
          <p:cNvGrpSpPr/>
          <p:nvPr/>
        </p:nvGrpSpPr>
        <p:grpSpPr>
          <a:xfrm rot="-9278497">
            <a:off x="-4052478" y="-11987378"/>
            <a:ext cx="9966661" cy="18142438"/>
            <a:chOff x="0" y="0"/>
            <a:chExt cx="812800" cy="1479550"/>
          </a:xfrm>
        </p:grpSpPr>
        <p:sp>
          <p:nvSpPr>
            <p:cNvPr id="162" name="Google Shape;162;p16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176"/>
                  </a:srgbClr>
                </a:gs>
                <a:gs pos="25000">
                  <a:srgbClr val="FFFFFF">
                    <a:alpha val="1960"/>
                  </a:srgbClr>
                </a:gs>
                <a:gs pos="50000">
                  <a:srgbClr val="FFFFFF">
                    <a:alpha val="1176"/>
                  </a:srgbClr>
                </a:gs>
                <a:gs pos="75000">
                  <a:srgbClr val="FFFFFF">
                    <a:alpha val="1960"/>
                  </a:srgbClr>
                </a:gs>
                <a:gs pos="100000">
                  <a:srgbClr val="FFFFFF">
                    <a:alpha val="1176"/>
                  </a:srgbClr>
                </a:gs>
              </a:gsLst>
              <a:lin ang="2700000" scaled="0"/>
            </a:gradFill>
            <a:ln cap="rnd" cmpd="sng" w="19050">
              <a:solidFill>
                <a:srgbClr val="FFFFFF">
                  <a:alpha val="12941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16"/>
            <p:cNvSpPr txBox="1"/>
            <p:nvPr/>
          </p:nvSpPr>
          <p:spPr>
            <a:xfrm>
              <a:off x="76200" y="819150"/>
              <a:ext cx="660400" cy="66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1092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4" name="Google Shape;164;p16"/>
          <p:cNvGrpSpPr/>
          <p:nvPr/>
        </p:nvGrpSpPr>
        <p:grpSpPr>
          <a:xfrm rot="-9278497">
            <a:off x="-2997112" y="-1545956"/>
            <a:ext cx="5213104" cy="5213104"/>
            <a:chOff x="0" y="0"/>
            <a:chExt cx="812800" cy="812800"/>
          </a:xfrm>
        </p:grpSpPr>
        <p:sp>
          <p:nvSpPr>
            <p:cNvPr id="165" name="Google Shape;165;p16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176"/>
                  </a:srgbClr>
                </a:gs>
                <a:gs pos="25000">
                  <a:srgbClr val="FFFFFF">
                    <a:alpha val="1960"/>
                  </a:srgbClr>
                </a:gs>
                <a:gs pos="50000">
                  <a:srgbClr val="FFFFFF">
                    <a:alpha val="1176"/>
                  </a:srgbClr>
                </a:gs>
                <a:gs pos="75000">
                  <a:srgbClr val="FFFFFF">
                    <a:alpha val="1960"/>
                  </a:srgbClr>
                </a:gs>
                <a:gs pos="100000">
                  <a:srgbClr val="FFFFFF">
                    <a:alpha val="1176"/>
                  </a:srgbClr>
                </a:gs>
              </a:gsLst>
              <a:lin ang="2700000" scaled="0"/>
            </a:gradFill>
            <a:ln cap="rnd" cmpd="sng" w="19050">
              <a:solidFill>
                <a:srgbClr val="FFFFFF">
                  <a:alpha val="12941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16"/>
            <p:cNvSpPr txBox="1"/>
            <p:nvPr/>
          </p:nvSpPr>
          <p:spPr>
            <a:xfrm>
              <a:off x="76200" y="161925"/>
              <a:ext cx="660400" cy="5746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3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7" name="Google Shape;167;p16"/>
          <p:cNvGrpSpPr/>
          <p:nvPr/>
        </p:nvGrpSpPr>
        <p:grpSpPr>
          <a:xfrm>
            <a:off x="851825" y="4283250"/>
            <a:ext cx="15872863" cy="5151236"/>
            <a:chOff x="0" y="0"/>
            <a:chExt cx="5974654" cy="1789307"/>
          </a:xfrm>
        </p:grpSpPr>
        <p:sp>
          <p:nvSpPr>
            <p:cNvPr id="168" name="Google Shape;168;p16"/>
            <p:cNvSpPr/>
            <p:nvPr/>
          </p:nvSpPr>
          <p:spPr>
            <a:xfrm>
              <a:off x="0" y="0"/>
              <a:ext cx="5974654" cy="1789307"/>
            </a:xfrm>
            <a:custGeom>
              <a:rect b="b" l="l" r="r" t="t"/>
              <a:pathLst>
                <a:path extrusionOk="0" h="1789307" w="5974654">
                  <a:moveTo>
                    <a:pt x="24875" y="0"/>
                  </a:moveTo>
                  <a:lnTo>
                    <a:pt x="5949779" y="0"/>
                  </a:lnTo>
                  <a:cubicBezTo>
                    <a:pt x="5963517" y="0"/>
                    <a:pt x="5974654" y="11137"/>
                    <a:pt x="5974654" y="24875"/>
                  </a:cubicBezTo>
                  <a:lnTo>
                    <a:pt x="5974654" y="1764433"/>
                  </a:lnTo>
                  <a:cubicBezTo>
                    <a:pt x="5974654" y="1778171"/>
                    <a:pt x="5963517" y="1789307"/>
                    <a:pt x="5949779" y="1789307"/>
                  </a:cubicBezTo>
                  <a:lnTo>
                    <a:pt x="24875" y="1789307"/>
                  </a:lnTo>
                  <a:cubicBezTo>
                    <a:pt x="18278" y="1789307"/>
                    <a:pt x="11951" y="1786687"/>
                    <a:pt x="7286" y="1782022"/>
                  </a:cubicBezTo>
                  <a:cubicBezTo>
                    <a:pt x="2621" y="1777357"/>
                    <a:pt x="0" y="1771030"/>
                    <a:pt x="0" y="1764433"/>
                  </a:cubicBezTo>
                  <a:lnTo>
                    <a:pt x="0" y="24875"/>
                  </a:lnTo>
                  <a:cubicBezTo>
                    <a:pt x="0" y="11137"/>
                    <a:pt x="11137" y="0"/>
                    <a:pt x="24875" y="0"/>
                  </a:cubicBez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rgbClr val="DBD8D8"/>
                </a:gs>
              </a:gsLst>
              <a:lin ang="5400000" scaled="0"/>
            </a:gradFill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p16"/>
            <p:cNvSpPr txBox="1"/>
            <p:nvPr/>
          </p:nvSpPr>
          <p:spPr>
            <a:xfrm>
              <a:off x="0" y="85725"/>
              <a:ext cx="5974654" cy="17035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3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0" name="Google Shape;170;p16"/>
          <p:cNvSpPr txBox="1"/>
          <p:nvPr/>
        </p:nvSpPr>
        <p:spPr>
          <a:xfrm>
            <a:off x="1028700" y="787372"/>
            <a:ext cx="8547528" cy="26707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9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Описание проведенного исследования</a:t>
            </a:r>
            <a:endParaRPr/>
          </a:p>
        </p:txBody>
      </p:sp>
      <p:sp>
        <p:nvSpPr>
          <p:cNvPr id="171" name="Google Shape;171;p16"/>
          <p:cNvSpPr txBox="1"/>
          <p:nvPr/>
        </p:nvSpPr>
        <p:spPr>
          <a:xfrm>
            <a:off x="1118913" y="4611564"/>
            <a:ext cx="15338700" cy="449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E0637"/>
                </a:solidFill>
                <a:latin typeface="Arial"/>
                <a:ea typeface="Arial"/>
                <a:cs typeface="Arial"/>
                <a:sym typeface="Arial"/>
              </a:rPr>
              <a:t>Данные были исследованы с использованием методов описательной статистики и визуального анализа распределений числовых признаков. Фокус был сделан на анализ различий в распределениях ключевых характеристик сотрудников в разрезе увольнений.</a:t>
            </a:r>
            <a:endParaRPr/>
          </a:p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E0637"/>
                </a:solidFill>
                <a:latin typeface="Arial"/>
                <a:ea typeface="Arial"/>
                <a:cs typeface="Arial"/>
                <a:sym typeface="Arial"/>
              </a:rPr>
              <a:t>Для анализа использовались различные методы визуализации распределений, что позволило сравнить различия уволившихся и оставшихся сотрудников их доходу, стажу, должностям и так далее.</a:t>
            </a:r>
            <a:endParaRPr/>
          </a:p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E0637"/>
                </a:solidFill>
                <a:latin typeface="Arial"/>
                <a:ea typeface="Arial"/>
                <a:cs typeface="Arial"/>
                <a:sym typeface="Arial"/>
              </a:rPr>
              <a:t>Также был проведен на основе группировок различным признакам, что позволило оценить более общие тенденции внутри компани.</a:t>
            </a:r>
            <a:endParaRPr/>
          </a:p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E0637"/>
                </a:solidFill>
                <a:latin typeface="Arial"/>
                <a:ea typeface="Arial"/>
                <a:cs typeface="Arial"/>
                <a:sym typeface="Arial"/>
              </a:rPr>
              <a:t>Для выявления взаимосвязей между количественными признаками применялся корреляционный анализ. Была построена корреляционная матрица, позволяющая оценить влияние и связь между различными факторами трудовой деятельности и оттоком сотрудников.</a:t>
            </a:r>
            <a:endParaRPr/>
          </a:p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E0637"/>
                </a:solidFill>
                <a:latin typeface="Arial"/>
                <a:ea typeface="Arial"/>
                <a:cs typeface="Arial"/>
                <a:sym typeface="Arial"/>
              </a:rPr>
              <a:t>Использованные методы позволили выявить ключевые факторы, влияющие на отток кадров.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7"/>
          <p:cNvSpPr/>
          <p:nvPr/>
        </p:nvSpPr>
        <p:spPr>
          <a:xfrm rot="10800000"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9221" l="0" r="0" t="-9221"/>
            </a:stretch>
          </a:blipFill>
          <a:ln>
            <a:noFill/>
          </a:ln>
        </p:spPr>
      </p:sp>
      <p:grpSp>
        <p:nvGrpSpPr>
          <p:cNvPr id="177" name="Google Shape;177;p17"/>
          <p:cNvGrpSpPr/>
          <p:nvPr/>
        </p:nvGrpSpPr>
        <p:grpSpPr>
          <a:xfrm rot="-9278496">
            <a:off x="15338293" y="-2652763"/>
            <a:ext cx="9966632" cy="18141158"/>
            <a:chOff x="0" y="0"/>
            <a:chExt cx="812800" cy="1479450"/>
          </a:xfrm>
        </p:grpSpPr>
        <p:sp>
          <p:nvSpPr>
            <p:cNvPr id="178" name="Google Shape;178;p17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176"/>
                  </a:srgbClr>
                </a:gs>
                <a:gs pos="25000">
                  <a:srgbClr val="FFFFFF">
                    <a:alpha val="1960"/>
                  </a:srgbClr>
                </a:gs>
                <a:gs pos="50000">
                  <a:srgbClr val="FFFFFF">
                    <a:alpha val="1176"/>
                  </a:srgbClr>
                </a:gs>
                <a:gs pos="75000">
                  <a:srgbClr val="FFFFFF">
                    <a:alpha val="1960"/>
                  </a:srgbClr>
                </a:gs>
                <a:gs pos="100000">
                  <a:srgbClr val="FFFFFF">
                    <a:alpha val="1176"/>
                  </a:srgbClr>
                </a:gs>
              </a:gsLst>
              <a:lin ang="2700006" scaled="0"/>
            </a:gradFill>
            <a:ln cap="rnd" cmpd="sng" w="19050">
              <a:solidFill>
                <a:srgbClr val="FFFFFF">
                  <a:alpha val="12940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" name="Google Shape;179;p17"/>
            <p:cNvSpPr txBox="1"/>
            <p:nvPr/>
          </p:nvSpPr>
          <p:spPr>
            <a:xfrm>
              <a:off x="76200" y="819150"/>
              <a:ext cx="660300" cy="66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1092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0" name="Google Shape;180;p17"/>
          <p:cNvGrpSpPr/>
          <p:nvPr/>
        </p:nvGrpSpPr>
        <p:grpSpPr>
          <a:xfrm rot="-9278505">
            <a:off x="15438555" y="6667994"/>
            <a:ext cx="6254705" cy="6254705"/>
            <a:chOff x="0" y="0"/>
            <a:chExt cx="812800" cy="812800"/>
          </a:xfrm>
        </p:grpSpPr>
        <p:sp>
          <p:nvSpPr>
            <p:cNvPr id="181" name="Google Shape;181;p17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176"/>
                  </a:srgbClr>
                </a:gs>
                <a:gs pos="25000">
                  <a:srgbClr val="FFFFFF">
                    <a:alpha val="1960"/>
                  </a:srgbClr>
                </a:gs>
                <a:gs pos="50000">
                  <a:srgbClr val="FFFFFF">
                    <a:alpha val="1176"/>
                  </a:srgbClr>
                </a:gs>
                <a:gs pos="75000">
                  <a:srgbClr val="FFFFFF">
                    <a:alpha val="1960"/>
                  </a:srgbClr>
                </a:gs>
                <a:gs pos="100000">
                  <a:srgbClr val="FFFFFF">
                    <a:alpha val="1176"/>
                  </a:srgbClr>
                </a:gs>
              </a:gsLst>
              <a:lin ang="2700006" scaled="0"/>
            </a:gradFill>
            <a:ln cap="rnd" cmpd="sng" w="19050">
              <a:solidFill>
                <a:srgbClr val="FFFFFF">
                  <a:alpha val="12940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" name="Google Shape;182;p17"/>
            <p:cNvSpPr txBox="1"/>
            <p:nvPr/>
          </p:nvSpPr>
          <p:spPr>
            <a:xfrm>
              <a:off x="76200" y="161925"/>
              <a:ext cx="660300" cy="57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3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3" name="Google Shape;183;p17"/>
          <p:cNvGrpSpPr/>
          <p:nvPr/>
        </p:nvGrpSpPr>
        <p:grpSpPr>
          <a:xfrm rot="-9278496">
            <a:off x="-4052721" y="-11986154"/>
            <a:ext cx="9966632" cy="18141158"/>
            <a:chOff x="0" y="0"/>
            <a:chExt cx="812800" cy="1479450"/>
          </a:xfrm>
        </p:grpSpPr>
        <p:sp>
          <p:nvSpPr>
            <p:cNvPr id="184" name="Google Shape;184;p17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176"/>
                  </a:srgbClr>
                </a:gs>
                <a:gs pos="25000">
                  <a:srgbClr val="FFFFFF">
                    <a:alpha val="1960"/>
                  </a:srgbClr>
                </a:gs>
                <a:gs pos="50000">
                  <a:srgbClr val="FFFFFF">
                    <a:alpha val="1176"/>
                  </a:srgbClr>
                </a:gs>
                <a:gs pos="75000">
                  <a:srgbClr val="FFFFFF">
                    <a:alpha val="1960"/>
                  </a:srgbClr>
                </a:gs>
                <a:gs pos="100000">
                  <a:srgbClr val="FFFFFF">
                    <a:alpha val="1176"/>
                  </a:srgbClr>
                </a:gs>
              </a:gsLst>
              <a:lin ang="2700006" scaled="0"/>
            </a:gradFill>
            <a:ln cap="rnd" cmpd="sng" w="19050">
              <a:solidFill>
                <a:srgbClr val="FFFFFF">
                  <a:alpha val="12940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" name="Google Shape;185;p17"/>
            <p:cNvSpPr txBox="1"/>
            <p:nvPr/>
          </p:nvSpPr>
          <p:spPr>
            <a:xfrm>
              <a:off x="76200" y="819150"/>
              <a:ext cx="660300" cy="66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1092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6" name="Google Shape;186;p17"/>
          <p:cNvGrpSpPr/>
          <p:nvPr/>
        </p:nvGrpSpPr>
        <p:grpSpPr>
          <a:xfrm rot="-9278493">
            <a:off x="-2997128" y="-1545990"/>
            <a:ext cx="5213132" cy="5213132"/>
            <a:chOff x="0" y="0"/>
            <a:chExt cx="812800" cy="812800"/>
          </a:xfrm>
        </p:grpSpPr>
        <p:sp>
          <p:nvSpPr>
            <p:cNvPr id="187" name="Google Shape;187;p17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176"/>
                  </a:srgbClr>
                </a:gs>
                <a:gs pos="25000">
                  <a:srgbClr val="FFFFFF">
                    <a:alpha val="1960"/>
                  </a:srgbClr>
                </a:gs>
                <a:gs pos="50000">
                  <a:srgbClr val="FFFFFF">
                    <a:alpha val="1176"/>
                  </a:srgbClr>
                </a:gs>
                <a:gs pos="75000">
                  <a:srgbClr val="FFFFFF">
                    <a:alpha val="1960"/>
                  </a:srgbClr>
                </a:gs>
                <a:gs pos="100000">
                  <a:srgbClr val="FFFFFF">
                    <a:alpha val="1176"/>
                  </a:srgbClr>
                </a:gs>
              </a:gsLst>
              <a:lin ang="2700006" scaled="0"/>
            </a:gradFill>
            <a:ln cap="rnd" cmpd="sng" w="19050">
              <a:solidFill>
                <a:srgbClr val="FFFFFF">
                  <a:alpha val="12940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17"/>
            <p:cNvSpPr txBox="1"/>
            <p:nvPr/>
          </p:nvSpPr>
          <p:spPr>
            <a:xfrm>
              <a:off x="76200" y="161925"/>
              <a:ext cx="660300" cy="57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3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9" name="Google Shape;189;p17"/>
          <p:cNvSpPr txBox="1"/>
          <p:nvPr/>
        </p:nvSpPr>
        <p:spPr>
          <a:xfrm>
            <a:off x="1028700" y="787372"/>
            <a:ext cx="8547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9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rgbClr val="FFFFFF"/>
                </a:solidFill>
              </a:rPr>
              <a:t>Зарплата и отток </a:t>
            </a:r>
            <a:endParaRPr/>
          </a:p>
        </p:txBody>
      </p:sp>
      <p:pic>
        <p:nvPicPr>
          <p:cNvPr id="190" name="Google Shape;190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28699" y="1991738"/>
            <a:ext cx="10221249" cy="63035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1" name="Google Shape;191;p17"/>
          <p:cNvGrpSpPr/>
          <p:nvPr/>
        </p:nvGrpSpPr>
        <p:grpSpPr>
          <a:xfrm>
            <a:off x="11596950" y="2050875"/>
            <a:ext cx="5813480" cy="1642692"/>
            <a:chOff x="0" y="0"/>
            <a:chExt cx="5974800" cy="1789425"/>
          </a:xfrm>
        </p:grpSpPr>
        <p:sp>
          <p:nvSpPr>
            <p:cNvPr id="192" name="Google Shape;192;p17"/>
            <p:cNvSpPr/>
            <p:nvPr/>
          </p:nvSpPr>
          <p:spPr>
            <a:xfrm>
              <a:off x="0" y="0"/>
              <a:ext cx="5974654" cy="1789307"/>
            </a:xfrm>
            <a:custGeom>
              <a:rect b="b" l="l" r="r" t="t"/>
              <a:pathLst>
                <a:path extrusionOk="0" h="1789307" w="5974654">
                  <a:moveTo>
                    <a:pt x="24875" y="0"/>
                  </a:moveTo>
                  <a:lnTo>
                    <a:pt x="5949779" y="0"/>
                  </a:lnTo>
                  <a:cubicBezTo>
                    <a:pt x="5963517" y="0"/>
                    <a:pt x="5974654" y="11137"/>
                    <a:pt x="5974654" y="24875"/>
                  </a:cubicBezTo>
                  <a:lnTo>
                    <a:pt x="5974654" y="1764433"/>
                  </a:lnTo>
                  <a:cubicBezTo>
                    <a:pt x="5974654" y="1778171"/>
                    <a:pt x="5963517" y="1789307"/>
                    <a:pt x="5949779" y="1789307"/>
                  </a:cubicBezTo>
                  <a:lnTo>
                    <a:pt x="24875" y="1789307"/>
                  </a:lnTo>
                  <a:cubicBezTo>
                    <a:pt x="18278" y="1789307"/>
                    <a:pt x="11951" y="1786687"/>
                    <a:pt x="7286" y="1782022"/>
                  </a:cubicBezTo>
                  <a:cubicBezTo>
                    <a:pt x="2621" y="1777357"/>
                    <a:pt x="0" y="1771030"/>
                    <a:pt x="0" y="1764433"/>
                  </a:cubicBezTo>
                  <a:lnTo>
                    <a:pt x="0" y="24875"/>
                  </a:lnTo>
                  <a:cubicBezTo>
                    <a:pt x="0" y="11137"/>
                    <a:pt x="11137" y="0"/>
                    <a:pt x="24875" y="0"/>
                  </a:cubicBez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rgbClr val="DBD8D8"/>
                </a:gs>
              </a:gsLst>
              <a:lin ang="5400012" scaled="0"/>
            </a:gradFill>
            <a:ln cap="rnd" cmpd="sng" w="112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925" lIns="53925" spcFirstLastPara="1" rIns="53925" wrap="square" tIns="539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17"/>
            <p:cNvSpPr txBox="1"/>
            <p:nvPr/>
          </p:nvSpPr>
          <p:spPr>
            <a:xfrm>
              <a:off x="0" y="85725"/>
              <a:ext cx="5974800" cy="170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9975" lIns="29975" spcFirstLastPara="1" rIns="29975" wrap="square" tIns="29975">
              <a:noAutofit/>
            </a:bodyPr>
            <a:lstStyle/>
            <a:p>
              <a:pPr indent="0" lvl="0" marL="0" marR="0" rtl="0" algn="ctr">
                <a:lnSpc>
                  <a:spcPct val="123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06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4" name="Google Shape;194;p17"/>
          <p:cNvSpPr txBox="1"/>
          <p:nvPr/>
        </p:nvSpPr>
        <p:spPr>
          <a:xfrm>
            <a:off x="11933729" y="2283900"/>
            <a:ext cx="5139900" cy="114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2000">
                <a:solidFill>
                  <a:srgbClr val="0E0637"/>
                </a:solidFill>
              </a:rPr>
              <a:t>Уволившиеся сотрудники имеют уровень дохода ниже, чем оставшиеся. Повышение зарплаты не устраняет этот разрыв. </a:t>
            </a:r>
            <a:endParaRPr sz="2000">
              <a:solidFill>
                <a:srgbClr val="0E0637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8"/>
          <p:cNvSpPr/>
          <p:nvPr/>
        </p:nvSpPr>
        <p:spPr>
          <a:xfrm rot="10800000"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9221" l="0" r="0" t="-9221"/>
            </a:stretch>
          </a:blipFill>
          <a:ln>
            <a:noFill/>
          </a:ln>
        </p:spPr>
      </p:sp>
      <p:grpSp>
        <p:nvGrpSpPr>
          <p:cNvPr id="200" name="Google Shape;200;p18"/>
          <p:cNvGrpSpPr/>
          <p:nvPr/>
        </p:nvGrpSpPr>
        <p:grpSpPr>
          <a:xfrm rot="-9278496">
            <a:off x="15338293" y="-2691288"/>
            <a:ext cx="9966632" cy="18141158"/>
            <a:chOff x="0" y="0"/>
            <a:chExt cx="812800" cy="1479450"/>
          </a:xfrm>
        </p:grpSpPr>
        <p:sp>
          <p:nvSpPr>
            <p:cNvPr id="201" name="Google Shape;201;p18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176"/>
                  </a:srgbClr>
                </a:gs>
                <a:gs pos="25000">
                  <a:srgbClr val="FFFFFF">
                    <a:alpha val="1960"/>
                  </a:srgbClr>
                </a:gs>
                <a:gs pos="50000">
                  <a:srgbClr val="FFFFFF">
                    <a:alpha val="1176"/>
                  </a:srgbClr>
                </a:gs>
                <a:gs pos="75000">
                  <a:srgbClr val="FFFFFF">
                    <a:alpha val="1960"/>
                  </a:srgbClr>
                </a:gs>
                <a:gs pos="100000">
                  <a:srgbClr val="FFFFFF">
                    <a:alpha val="1176"/>
                  </a:srgbClr>
                </a:gs>
              </a:gsLst>
              <a:lin ang="2700006" scaled="0"/>
            </a:gradFill>
            <a:ln cap="rnd" cmpd="sng" w="19050">
              <a:solidFill>
                <a:srgbClr val="FFFFFF">
                  <a:alpha val="12940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18"/>
            <p:cNvSpPr txBox="1"/>
            <p:nvPr/>
          </p:nvSpPr>
          <p:spPr>
            <a:xfrm>
              <a:off x="76200" y="819150"/>
              <a:ext cx="660300" cy="66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1092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3" name="Google Shape;203;p18"/>
          <p:cNvGrpSpPr/>
          <p:nvPr/>
        </p:nvGrpSpPr>
        <p:grpSpPr>
          <a:xfrm rot="-9278505">
            <a:off x="15374330" y="6667994"/>
            <a:ext cx="6254705" cy="6254705"/>
            <a:chOff x="0" y="0"/>
            <a:chExt cx="812800" cy="812800"/>
          </a:xfrm>
        </p:grpSpPr>
        <p:sp>
          <p:nvSpPr>
            <p:cNvPr id="204" name="Google Shape;204;p18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176"/>
                  </a:srgbClr>
                </a:gs>
                <a:gs pos="25000">
                  <a:srgbClr val="FFFFFF">
                    <a:alpha val="1960"/>
                  </a:srgbClr>
                </a:gs>
                <a:gs pos="50000">
                  <a:srgbClr val="FFFFFF">
                    <a:alpha val="1176"/>
                  </a:srgbClr>
                </a:gs>
                <a:gs pos="75000">
                  <a:srgbClr val="FFFFFF">
                    <a:alpha val="1960"/>
                  </a:srgbClr>
                </a:gs>
                <a:gs pos="100000">
                  <a:srgbClr val="FFFFFF">
                    <a:alpha val="1176"/>
                  </a:srgbClr>
                </a:gs>
              </a:gsLst>
              <a:lin ang="2700006" scaled="0"/>
            </a:gradFill>
            <a:ln cap="rnd" cmpd="sng" w="19050">
              <a:solidFill>
                <a:srgbClr val="FFFFFF">
                  <a:alpha val="12940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p18"/>
            <p:cNvSpPr txBox="1"/>
            <p:nvPr/>
          </p:nvSpPr>
          <p:spPr>
            <a:xfrm>
              <a:off x="76200" y="161925"/>
              <a:ext cx="660300" cy="57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3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6" name="Google Shape;206;p18"/>
          <p:cNvGrpSpPr/>
          <p:nvPr/>
        </p:nvGrpSpPr>
        <p:grpSpPr>
          <a:xfrm rot="-9278496">
            <a:off x="-4052721" y="-11986154"/>
            <a:ext cx="9966632" cy="18141158"/>
            <a:chOff x="0" y="0"/>
            <a:chExt cx="812800" cy="1479450"/>
          </a:xfrm>
        </p:grpSpPr>
        <p:sp>
          <p:nvSpPr>
            <p:cNvPr id="207" name="Google Shape;207;p18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176"/>
                  </a:srgbClr>
                </a:gs>
                <a:gs pos="25000">
                  <a:srgbClr val="FFFFFF">
                    <a:alpha val="1960"/>
                  </a:srgbClr>
                </a:gs>
                <a:gs pos="50000">
                  <a:srgbClr val="FFFFFF">
                    <a:alpha val="1176"/>
                  </a:srgbClr>
                </a:gs>
                <a:gs pos="75000">
                  <a:srgbClr val="FFFFFF">
                    <a:alpha val="1960"/>
                  </a:srgbClr>
                </a:gs>
                <a:gs pos="100000">
                  <a:srgbClr val="FFFFFF">
                    <a:alpha val="1176"/>
                  </a:srgbClr>
                </a:gs>
              </a:gsLst>
              <a:lin ang="2700006" scaled="0"/>
            </a:gradFill>
            <a:ln cap="rnd" cmpd="sng" w="19050">
              <a:solidFill>
                <a:srgbClr val="FFFFFF">
                  <a:alpha val="12940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" name="Google Shape;208;p18"/>
            <p:cNvSpPr txBox="1"/>
            <p:nvPr/>
          </p:nvSpPr>
          <p:spPr>
            <a:xfrm>
              <a:off x="76200" y="819150"/>
              <a:ext cx="660300" cy="66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1092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9" name="Google Shape;209;p18"/>
          <p:cNvGrpSpPr/>
          <p:nvPr/>
        </p:nvGrpSpPr>
        <p:grpSpPr>
          <a:xfrm rot="-9278493">
            <a:off x="-2997128" y="-1545990"/>
            <a:ext cx="5213132" cy="5213132"/>
            <a:chOff x="0" y="0"/>
            <a:chExt cx="812800" cy="812800"/>
          </a:xfrm>
        </p:grpSpPr>
        <p:sp>
          <p:nvSpPr>
            <p:cNvPr id="210" name="Google Shape;210;p18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176"/>
                  </a:srgbClr>
                </a:gs>
                <a:gs pos="25000">
                  <a:srgbClr val="FFFFFF">
                    <a:alpha val="1960"/>
                  </a:srgbClr>
                </a:gs>
                <a:gs pos="50000">
                  <a:srgbClr val="FFFFFF">
                    <a:alpha val="1176"/>
                  </a:srgbClr>
                </a:gs>
                <a:gs pos="75000">
                  <a:srgbClr val="FFFFFF">
                    <a:alpha val="1960"/>
                  </a:srgbClr>
                </a:gs>
                <a:gs pos="100000">
                  <a:srgbClr val="FFFFFF">
                    <a:alpha val="1176"/>
                  </a:srgbClr>
                </a:gs>
              </a:gsLst>
              <a:lin ang="2700006" scaled="0"/>
            </a:gradFill>
            <a:ln cap="rnd" cmpd="sng" w="19050">
              <a:solidFill>
                <a:srgbClr val="FFFFFF">
                  <a:alpha val="12940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" name="Google Shape;211;p18"/>
            <p:cNvSpPr txBox="1"/>
            <p:nvPr/>
          </p:nvSpPr>
          <p:spPr>
            <a:xfrm>
              <a:off x="76200" y="161925"/>
              <a:ext cx="660300" cy="57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3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2" name="Google Shape;212;p18"/>
          <p:cNvGrpSpPr/>
          <p:nvPr/>
        </p:nvGrpSpPr>
        <p:grpSpPr>
          <a:xfrm>
            <a:off x="1207375" y="8000472"/>
            <a:ext cx="15873251" cy="1280253"/>
            <a:chOff x="0" y="-6"/>
            <a:chExt cx="5974800" cy="1789313"/>
          </a:xfrm>
        </p:grpSpPr>
        <p:sp>
          <p:nvSpPr>
            <p:cNvPr id="213" name="Google Shape;213;p18"/>
            <p:cNvSpPr/>
            <p:nvPr/>
          </p:nvSpPr>
          <p:spPr>
            <a:xfrm>
              <a:off x="0" y="0"/>
              <a:ext cx="5974654" cy="1789307"/>
            </a:xfrm>
            <a:custGeom>
              <a:rect b="b" l="l" r="r" t="t"/>
              <a:pathLst>
                <a:path extrusionOk="0" h="1789307" w="5974654">
                  <a:moveTo>
                    <a:pt x="24875" y="0"/>
                  </a:moveTo>
                  <a:lnTo>
                    <a:pt x="5949779" y="0"/>
                  </a:lnTo>
                  <a:cubicBezTo>
                    <a:pt x="5963517" y="0"/>
                    <a:pt x="5974654" y="11137"/>
                    <a:pt x="5974654" y="24875"/>
                  </a:cubicBezTo>
                  <a:lnTo>
                    <a:pt x="5974654" y="1764433"/>
                  </a:lnTo>
                  <a:cubicBezTo>
                    <a:pt x="5974654" y="1778171"/>
                    <a:pt x="5963517" y="1789307"/>
                    <a:pt x="5949779" y="1789307"/>
                  </a:cubicBezTo>
                  <a:lnTo>
                    <a:pt x="24875" y="1789307"/>
                  </a:lnTo>
                  <a:cubicBezTo>
                    <a:pt x="18278" y="1789307"/>
                    <a:pt x="11951" y="1786687"/>
                    <a:pt x="7286" y="1782022"/>
                  </a:cubicBezTo>
                  <a:cubicBezTo>
                    <a:pt x="2621" y="1777357"/>
                    <a:pt x="0" y="1771030"/>
                    <a:pt x="0" y="1764433"/>
                  </a:cubicBezTo>
                  <a:lnTo>
                    <a:pt x="0" y="24875"/>
                  </a:lnTo>
                  <a:cubicBezTo>
                    <a:pt x="0" y="11137"/>
                    <a:pt x="11137" y="0"/>
                    <a:pt x="24875" y="0"/>
                  </a:cubicBez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rgbClr val="DBD8D8"/>
                </a:gs>
              </a:gsLst>
              <a:lin ang="5400012" scaled="0"/>
            </a:gradFill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" name="Google Shape;214;p18"/>
            <p:cNvSpPr txBox="1"/>
            <p:nvPr/>
          </p:nvSpPr>
          <p:spPr>
            <a:xfrm>
              <a:off x="0" y="-6"/>
              <a:ext cx="5974800" cy="170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3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5" name="Google Shape;215;p18"/>
          <p:cNvSpPr txBox="1"/>
          <p:nvPr/>
        </p:nvSpPr>
        <p:spPr>
          <a:xfrm>
            <a:off x="250650" y="800225"/>
            <a:ext cx="177867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9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rgbClr val="FFFFFF"/>
                </a:solidFill>
              </a:rPr>
              <a:t>Переработки и баланс личной жизни и работы</a:t>
            </a:r>
            <a:endParaRPr/>
          </a:p>
        </p:txBody>
      </p:sp>
      <p:pic>
        <p:nvPicPr>
          <p:cNvPr id="216" name="Google Shape;216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65800" y="1977825"/>
            <a:ext cx="15356399" cy="5442776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18"/>
          <p:cNvSpPr txBox="1"/>
          <p:nvPr/>
        </p:nvSpPr>
        <p:spPr>
          <a:xfrm>
            <a:off x="1440675" y="8240388"/>
            <a:ext cx="153564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Сотрудники, которые отправляются на командировки чаще, имеют более высокие шансы уволиться. Сотрудники, работающие сверхурочно, вероятно, имеют более высокую загрузку и чаще значительно увольняются. </a:t>
            </a:r>
            <a:endParaRPr sz="2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9"/>
          <p:cNvSpPr/>
          <p:nvPr/>
        </p:nvSpPr>
        <p:spPr>
          <a:xfrm rot="10800000">
            <a:off x="64225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9221" l="0" r="0" t="-9221"/>
            </a:stretch>
          </a:blipFill>
          <a:ln>
            <a:noFill/>
          </a:ln>
        </p:spPr>
      </p:sp>
      <p:grpSp>
        <p:nvGrpSpPr>
          <p:cNvPr id="223" name="Google Shape;223;p19"/>
          <p:cNvGrpSpPr/>
          <p:nvPr/>
        </p:nvGrpSpPr>
        <p:grpSpPr>
          <a:xfrm rot="-9278496">
            <a:off x="15248393" y="-2729813"/>
            <a:ext cx="9966632" cy="18141158"/>
            <a:chOff x="0" y="0"/>
            <a:chExt cx="812800" cy="1479450"/>
          </a:xfrm>
        </p:grpSpPr>
        <p:sp>
          <p:nvSpPr>
            <p:cNvPr id="224" name="Google Shape;224;p19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176"/>
                  </a:srgbClr>
                </a:gs>
                <a:gs pos="25000">
                  <a:srgbClr val="FFFFFF">
                    <a:alpha val="1960"/>
                  </a:srgbClr>
                </a:gs>
                <a:gs pos="50000">
                  <a:srgbClr val="FFFFFF">
                    <a:alpha val="1176"/>
                  </a:srgbClr>
                </a:gs>
                <a:gs pos="75000">
                  <a:srgbClr val="FFFFFF">
                    <a:alpha val="1960"/>
                  </a:srgbClr>
                </a:gs>
                <a:gs pos="100000">
                  <a:srgbClr val="FFFFFF">
                    <a:alpha val="1176"/>
                  </a:srgbClr>
                </a:gs>
              </a:gsLst>
              <a:lin ang="2700006" scaled="0"/>
            </a:gradFill>
            <a:ln cap="rnd" cmpd="sng" w="19050">
              <a:solidFill>
                <a:srgbClr val="FFFFFF">
                  <a:alpha val="12940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" name="Google Shape;225;p19"/>
            <p:cNvSpPr txBox="1"/>
            <p:nvPr/>
          </p:nvSpPr>
          <p:spPr>
            <a:xfrm>
              <a:off x="76200" y="819150"/>
              <a:ext cx="660300" cy="66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1092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6" name="Google Shape;226;p19"/>
          <p:cNvGrpSpPr/>
          <p:nvPr/>
        </p:nvGrpSpPr>
        <p:grpSpPr>
          <a:xfrm rot="-9278505">
            <a:off x="15438555" y="6667994"/>
            <a:ext cx="6254705" cy="6254705"/>
            <a:chOff x="0" y="0"/>
            <a:chExt cx="812800" cy="812800"/>
          </a:xfrm>
        </p:grpSpPr>
        <p:sp>
          <p:nvSpPr>
            <p:cNvPr id="227" name="Google Shape;227;p19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176"/>
                  </a:srgbClr>
                </a:gs>
                <a:gs pos="25000">
                  <a:srgbClr val="FFFFFF">
                    <a:alpha val="1960"/>
                  </a:srgbClr>
                </a:gs>
                <a:gs pos="50000">
                  <a:srgbClr val="FFFFFF">
                    <a:alpha val="1176"/>
                  </a:srgbClr>
                </a:gs>
                <a:gs pos="75000">
                  <a:srgbClr val="FFFFFF">
                    <a:alpha val="1960"/>
                  </a:srgbClr>
                </a:gs>
                <a:gs pos="100000">
                  <a:srgbClr val="FFFFFF">
                    <a:alpha val="1176"/>
                  </a:srgbClr>
                </a:gs>
              </a:gsLst>
              <a:lin ang="2700006" scaled="0"/>
            </a:gradFill>
            <a:ln cap="rnd" cmpd="sng" w="19050">
              <a:solidFill>
                <a:srgbClr val="FFFFFF">
                  <a:alpha val="12940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" name="Google Shape;228;p19"/>
            <p:cNvSpPr txBox="1"/>
            <p:nvPr/>
          </p:nvSpPr>
          <p:spPr>
            <a:xfrm>
              <a:off x="76200" y="161925"/>
              <a:ext cx="660300" cy="57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3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9" name="Google Shape;229;p19"/>
          <p:cNvGrpSpPr/>
          <p:nvPr/>
        </p:nvGrpSpPr>
        <p:grpSpPr>
          <a:xfrm rot="-9278496">
            <a:off x="-4052721" y="-11986154"/>
            <a:ext cx="9966632" cy="18141158"/>
            <a:chOff x="0" y="0"/>
            <a:chExt cx="812800" cy="1479450"/>
          </a:xfrm>
        </p:grpSpPr>
        <p:sp>
          <p:nvSpPr>
            <p:cNvPr id="230" name="Google Shape;230;p19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176"/>
                  </a:srgbClr>
                </a:gs>
                <a:gs pos="25000">
                  <a:srgbClr val="FFFFFF">
                    <a:alpha val="1960"/>
                  </a:srgbClr>
                </a:gs>
                <a:gs pos="50000">
                  <a:srgbClr val="FFFFFF">
                    <a:alpha val="1176"/>
                  </a:srgbClr>
                </a:gs>
                <a:gs pos="75000">
                  <a:srgbClr val="FFFFFF">
                    <a:alpha val="1960"/>
                  </a:srgbClr>
                </a:gs>
                <a:gs pos="100000">
                  <a:srgbClr val="FFFFFF">
                    <a:alpha val="1176"/>
                  </a:srgbClr>
                </a:gs>
              </a:gsLst>
              <a:lin ang="2700006" scaled="0"/>
            </a:gradFill>
            <a:ln cap="rnd" cmpd="sng" w="19050">
              <a:solidFill>
                <a:srgbClr val="FFFFFF">
                  <a:alpha val="12940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" name="Google Shape;231;p19"/>
            <p:cNvSpPr txBox="1"/>
            <p:nvPr/>
          </p:nvSpPr>
          <p:spPr>
            <a:xfrm>
              <a:off x="76200" y="819150"/>
              <a:ext cx="660300" cy="66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1092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2" name="Google Shape;232;p19"/>
          <p:cNvGrpSpPr/>
          <p:nvPr/>
        </p:nvGrpSpPr>
        <p:grpSpPr>
          <a:xfrm rot="-9278493">
            <a:off x="-2997128" y="-1545990"/>
            <a:ext cx="5213132" cy="5213132"/>
            <a:chOff x="0" y="0"/>
            <a:chExt cx="812800" cy="812800"/>
          </a:xfrm>
        </p:grpSpPr>
        <p:sp>
          <p:nvSpPr>
            <p:cNvPr id="233" name="Google Shape;233;p19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176"/>
                  </a:srgbClr>
                </a:gs>
                <a:gs pos="25000">
                  <a:srgbClr val="FFFFFF">
                    <a:alpha val="1960"/>
                  </a:srgbClr>
                </a:gs>
                <a:gs pos="50000">
                  <a:srgbClr val="FFFFFF">
                    <a:alpha val="1176"/>
                  </a:srgbClr>
                </a:gs>
                <a:gs pos="75000">
                  <a:srgbClr val="FFFFFF">
                    <a:alpha val="1960"/>
                  </a:srgbClr>
                </a:gs>
                <a:gs pos="100000">
                  <a:srgbClr val="FFFFFF">
                    <a:alpha val="1176"/>
                  </a:srgbClr>
                </a:gs>
              </a:gsLst>
              <a:lin ang="2700006" scaled="0"/>
            </a:gradFill>
            <a:ln cap="rnd" cmpd="sng" w="19050">
              <a:solidFill>
                <a:srgbClr val="FFFFFF">
                  <a:alpha val="12940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19"/>
            <p:cNvSpPr txBox="1"/>
            <p:nvPr/>
          </p:nvSpPr>
          <p:spPr>
            <a:xfrm>
              <a:off x="76200" y="161925"/>
              <a:ext cx="660300" cy="57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3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5" name="Google Shape;235;p19"/>
          <p:cNvSpPr txBox="1"/>
          <p:nvPr/>
        </p:nvSpPr>
        <p:spPr>
          <a:xfrm>
            <a:off x="1028700" y="787375"/>
            <a:ext cx="156963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9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rgbClr val="FFFFFF"/>
                </a:solidFill>
              </a:rPr>
              <a:t>Стаж работников</a:t>
            </a:r>
            <a:endParaRPr/>
          </a:p>
        </p:txBody>
      </p:sp>
      <p:pic>
        <p:nvPicPr>
          <p:cNvPr id="236" name="Google Shape;236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28699" y="2050875"/>
            <a:ext cx="8931675" cy="67027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7" name="Google Shape;237;p19"/>
          <p:cNvGrpSpPr/>
          <p:nvPr/>
        </p:nvGrpSpPr>
        <p:grpSpPr>
          <a:xfrm>
            <a:off x="10911525" y="2050875"/>
            <a:ext cx="5813480" cy="1642692"/>
            <a:chOff x="0" y="0"/>
            <a:chExt cx="5974800" cy="1789425"/>
          </a:xfrm>
        </p:grpSpPr>
        <p:sp>
          <p:nvSpPr>
            <p:cNvPr id="238" name="Google Shape;238;p19"/>
            <p:cNvSpPr/>
            <p:nvPr/>
          </p:nvSpPr>
          <p:spPr>
            <a:xfrm>
              <a:off x="0" y="0"/>
              <a:ext cx="5974654" cy="1789307"/>
            </a:xfrm>
            <a:custGeom>
              <a:rect b="b" l="l" r="r" t="t"/>
              <a:pathLst>
                <a:path extrusionOk="0" h="1789307" w="5974654">
                  <a:moveTo>
                    <a:pt x="24875" y="0"/>
                  </a:moveTo>
                  <a:lnTo>
                    <a:pt x="5949779" y="0"/>
                  </a:lnTo>
                  <a:cubicBezTo>
                    <a:pt x="5963517" y="0"/>
                    <a:pt x="5974654" y="11137"/>
                    <a:pt x="5974654" y="24875"/>
                  </a:cubicBezTo>
                  <a:lnTo>
                    <a:pt x="5974654" y="1764433"/>
                  </a:lnTo>
                  <a:cubicBezTo>
                    <a:pt x="5974654" y="1778171"/>
                    <a:pt x="5963517" y="1789307"/>
                    <a:pt x="5949779" y="1789307"/>
                  </a:cubicBezTo>
                  <a:lnTo>
                    <a:pt x="24875" y="1789307"/>
                  </a:lnTo>
                  <a:cubicBezTo>
                    <a:pt x="18278" y="1789307"/>
                    <a:pt x="11951" y="1786687"/>
                    <a:pt x="7286" y="1782022"/>
                  </a:cubicBezTo>
                  <a:cubicBezTo>
                    <a:pt x="2621" y="1777357"/>
                    <a:pt x="0" y="1771030"/>
                    <a:pt x="0" y="1764433"/>
                  </a:cubicBezTo>
                  <a:lnTo>
                    <a:pt x="0" y="24875"/>
                  </a:lnTo>
                  <a:cubicBezTo>
                    <a:pt x="0" y="11137"/>
                    <a:pt x="11137" y="0"/>
                    <a:pt x="24875" y="0"/>
                  </a:cubicBez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rgbClr val="DBD8D8"/>
                </a:gs>
              </a:gsLst>
              <a:lin ang="5400012" scaled="0"/>
            </a:gradFill>
            <a:ln cap="rnd" cmpd="sng" w="112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925" lIns="53925" spcFirstLastPara="1" rIns="53925" wrap="square" tIns="539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p19"/>
            <p:cNvSpPr txBox="1"/>
            <p:nvPr/>
          </p:nvSpPr>
          <p:spPr>
            <a:xfrm>
              <a:off x="0" y="85725"/>
              <a:ext cx="5974800" cy="170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9975" lIns="29975" spcFirstLastPara="1" rIns="29975" wrap="square" tIns="29975">
              <a:noAutofit/>
            </a:bodyPr>
            <a:lstStyle/>
            <a:p>
              <a:pPr indent="0" lvl="0" marL="0" marR="0" rtl="0" algn="ctr">
                <a:lnSpc>
                  <a:spcPct val="123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06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0" name="Google Shape;240;p19"/>
          <p:cNvSpPr txBox="1"/>
          <p:nvPr/>
        </p:nvSpPr>
        <p:spPr>
          <a:xfrm>
            <a:off x="11185463" y="2318125"/>
            <a:ext cx="52656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Вероятность уйти из компании снижается по мере повышения стажа. Есть выброс в 40 лет.</a:t>
            </a:r>
            <a:endParaRPr sz="2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0"/>
          <p:cNvSpPr/>
          <p:nvPr/>
        </p:nvSpPr>
        <p:spPr>
          <a:xfrm rot="10800000">
            <a:off x="0" y="89925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9221" l="0" r="0" t="-9221"/>
            </a:stretch>
          </a:blipFill>
          <a:ln>
            <a:noFill/>
          </a:ln>
        </p:spPr>
      </p:sp>
      <p:grpSp>
        <p:nvGrpSpPr>
          <p:cNvPr id="246" name="Google Shape;246;p20"/>
          <p:cNvGrpSpPr/>
          <p:nvPr/>
        </p:nvGrpSpPr>
        <p:grpSpPr>
          <a:xfrm>
            <a:off x="1207375" y="8217072"/>
            <a:ext cx="15873251" cy="1280253"/>
            <a:chOff x="0" y="-6"/>
            <a:chExt cx="5974800" cy="1789313"/>
          </a:xfrm>
        </p:grpSpPr>
        <p:sp>
          <p:nvSpPr>
            <p:cNvPr id="247" name="Google Shape;247;p20"/>
            <p:cNvSpPr/>
            <p:nvPr/>
          </p:nvSpPr>
          <p:spPr>
            <a:xfrm>
              <a:off x="0" y="0"/>
              <a:ext cx="5974654" cy="1789307"/>
            </a:xfrm>
            <a:custGeom>
              <a:rect b="b" l="l" r="r" t="t"/>
              <a:pathLst>
                <a:path extrusionOk="0" h="1789307" w="5974654">
                  <a:moveTo>
                    <a:pt x="24875" y="0"/>
                  </a:moveTo>
                  <a:lnTo>
                    <a:pt x="5949779" y="0"/>
                  </a:lnTo>
                  <a:cubicBezTo>
                    <a:pt x="5963517" y="0"/>
                    <a:pt x="5974654" y="11137"/>
                    <a:pt x="5974654" y="24875"/>
                  </a:cubicBezTo>
                  <a:lnTo>
                    <a:pt x="5974654" y="1764433"/>
                  </a:lnTo>
                  <a:cubicBezTo>
                    <a:pt x="5974654" y="1778171"/>
                    <a:pt x="5963517" y="1789307"/>
                    <a:pt x="5949779" y="1789307"/>
                  </a:cubicBezTo>
                  <a:lnTo>
                    <a:pt x="24875" y="1789307"/>
                  </a:lnTo>
                  <a:cubicBezTo>
                    <a:pt x="18278" y="1789307"/>
                    <a:pt x="11951" y="1786687"/>
                    <a:pt x="7286" y="1782022"/>
                  </a:cubicBezTo>
                  <a:cubicBezTo>
                    <a:pt x="2621" y="1777357"/>
                    <a:pt x="0" y="1771030"/>
                    <a:pt x="0" y="1764433"/>
                  </a:cubicBezTo>
                  <a:lnTo>
                    <a:pt x="0" y="24875"/>
                  </a:lnTo>
                  <a:cubicBezTo>
                    <a:pt x="0" y="11137"/>
                    <a:pt x="11137" y="0"/>
                    <a:pt x="24875" y="0"/>
                  </a:cubicBez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rgbClr val="DBD8D8"/>
                </a:gs>
              </a:gsLst>
              <a:lin ang="5400012" scaled="0"/>
            </a:gradFill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20"/>
            <p:cNvSpPr txBox="1"/>
            <p:nvPr/>
          </p:nvSpPr>
          <p:spPr>
            <a:xfrm>
              <a:off x="0" y="-6"/>
              <a:ext cx="5974800" cy="170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3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9" name="Google Shape;249;p20"/>
          <p:cNvGrpSpPr/>
          <p:nvPr/>
        </p:nvGrpSpPr>
        <p:grpSpPr>
          <a:xfrm rot="-9278496">
            <a:off x="15338293" y="-2691288"/>
            <a:ext cx="9966632" cy="18141158"/>
            <a:chOff x="0" y="0"/>
            <a:chExt cx="812800" cy="1479450"/>
          </a:xfrm>
        </p:grpSpPr>
        <p:sp>
          <p:nvSpPr>
            <p:cNvPr id="250" name="Google Shape;250;p20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176"/>
                  </a:srgbClr>
                </a:gs>
                <a:gs pos="25000">
                  <a:srgbClr val="FFFFFF">
                    <a:alpha val="1960"/>
                  </a:srgbClr>
                </a:gs>
                <a:gs pos="50000">
                  <a:srgbClr val="FFFFFF">
                    <a:alpha val="1176"/>
                  </a:srgbClr>
                </a:gs>
                <a:gs pos="75000">
                  <a:srgbClr val="FFFFFF">
                    <a:alpha val="1960"/>
                  </a:srgbClr>
                </a:gs>
                <a:gs pos="100000">
                  <a:srgbClr val="FFFFFF">
                    <a:alpha val="1176"/>
                  </a:srgbClr>
                </a:gs>
              </a:gsLst>
              <a:lin ang="2700006" scaled="0"/>
            </a:gradFill>
            <a:ln cap="rnd" cmpd="sng" w="19050">
              <a:solidFill>
                <a:srgbClr val="FFFFFF">
                  <a:alpha val="12940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20"/>
            <p:cNvSpPr txBox="1"/>
            <p:nvPr/>
          </p:nvSpPr>
          <p:spPr>
            <a:xfrm>
              <a:off x="76200" y="819150"/>
              <a:ext cx="660300" cy="66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1092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2" name="Google Shape;252;p20"/>
          <p:cNvGrpSpPr/>
          <p:nvPr/>
        </p:nvGrpSpPr>
        <p:grpSpPr>
          <a:xfrm rot="-9278505">
            <a:off x="15438555" y="6667994"/>
            <a:ext cx="6254705" cy="6254705"/>
            <a:chOff x="0" y="0"/>
            <a:chExt cx="812800" cy="812800"/>
          </a:xfrm>
        </p:grpSpPr>
        <p:sp>
          <p:nvSpPr>
            <p:cNvPr id="253" name="Google Shape;253;p20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176"/>
                  </a:srgbClr>
                </a:gs>
                <a:gs pos="25000">
                  <a:srgbClr val="FFFFFF">
                    <a:alpha val="1960"/>
                  </a:srgbClr>
                </a:gs>
                <a:gs pos="50000">
                  <a:srgbClr val="FFFFFF">
                    <a:alpha val="1176"/>
                  </a:srgbClr>
                </a:gs>
                <a:gs pos="75000">
                  <a:srgbClr val="FFFFFF">
                    <a:alpha val="1960"/>
                  </a:srgbClr>
                </a:gs>
                <a:gs pos="100000">
                  <a:srgbClr val="FFFFFF">
                    <a:alpha val="1176"/>
                  </a:srgbClr>
                </a:gs>
              </a:gsLst>
              <a:lin ang="2700006" scaled="0"/>
            </a:gradFill>
            <a:ln cap="rnd" cmpd="sng" w="19050">
              <a:solidFill>
                <a:srgbClr val="FFFFFF">
                  <a:alpha val="12940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" name="Google Shape;254;p20"/>
            <p:cNvSpPr txBox="1"/>
            <p:nvPr/>
          </p:nvSpPr>
          <p:spPr>
            <a:xfrm>
              <a:off x="76200" y="161925"/>
              <a:ext cx="660300" cy="57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3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5" name="Google Shape;255;p20"/>
          <p:cNvGrpSpPr/>
          <p:nvPr/>
        </p:nvGrpSpPr>
        <p:grpSpPr>
          <a:xfrm rot="-9278496">
            <a:off x="-4052721" y="-11986154"/>
            <a:ext cx="9966632" cy="18141158"/>
            <a:chOff x="0" y="0"/>
            <a:chExt cx="812800" cy="1479450"/>
          </a:xfrm>
        </p:grpSpPr>
        <p:sp>
          <p:nvSpPr>
            <p:cNvPr id="256" name="Google Shape;256;p20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176"/>
                  </a:srgbClr>
                </a:gs>
                <a:gs pos="25000">
                  <a:srgbClr val="FFFFFF">
                    <a:alpha val="1960"/>
                  </a:srgbClr>
                </a:gs>
                <a:gs pos="50000">
                  <a:srgbClr val="FFFFFF">
                    <a:alpha val="1176"/>
                  </a:srgbClr>
                </a:gs>
                <a:gs pos="75000">
                  <a:srgbClr val="FFFFFF">
                    <a:alpha val="1960"/>
                  </a:srgbClr>
                </a:gs>
                <a:gs pos="100000">
                  <a:srgbClr val="FFFFFF">
                    <a:alpha val="1176"/>
                  </a:srgbClr>
                </a:gs>
              </a:gsLst>
              <a:lin ang="2700006" scaled="0"/>
            </a:gradFill>
            <a:ln cap="rnd" cmpd="sng" w="19050">
              <a:solidFill>
                <a:srgbClr val="FFFFFF">
                  <a:alpha val="12940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" name="Google Shape;257;p20"/>
            <p:cNvSpPr txBox="1"/>
            <p:nvPr/>
          </p:nvSpPr>
          <p:spPr>
            <a:xfrm>
              <a:off x="76200" y="819150"/>
              <a:ext cx="660300" cy="66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1092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8" name="Google Shape;258;p20"/>
          <p:cNvGrpSpPr/>
          <p:nvPr/>
        </p:nvGrpSpPr>
        <p:grpSpPr>
          <a:xfrm rot="-9278493">
            <a:off x="-2997128" y="-1545990"/>
            <a:ext cx="5213132" cy="5213132"/>
            <a:chOff x="0" y="0"/>
            <a:chExt cx="812800" cy="812800"/>
          </a:xfrm>
        </p:grpSpPr>
        <p:sp>
          <p:nvSpPr>
            <p:cNvPr id="259" name="Google Shape;259;p20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176"/>
                  </a:srgbClr>
                </a:gs>
                <a:gs pos="25000">
                  <a:srgbClr val="FFFFFF">
                    <a:alpha val="1960"/>
                  </a:srgbClr>
                </a:gs>
                <a:gs pos="50000">
                  <a:srgbClr val="FFFFFF">
                    <a:alpha val="1176"/>
                  </a:srgbClr>
                </a:gs>
                <a:gs pos="75000">
                  <a:srgbClr val="FFFFFF">
                    <a:alpha val="1960"/>
                  </a:srgbClr>
                </a:gs>
                <a:gs pos="100000">
                  <a:srgbClr val="FFFFFF">
                    <a:alpha val="1176"/>
                  </a:srgbClr>
                </a:gs>
              </a:gsLst>
              <a:lin ang="2700006" scaled="0"/>
            </a:gradFill>
            <a:ln cap="rnd" cmpd="sng" w="19050">
              <a:solidFill>
                <a:srgbClr val="FFFFFF">
                  <a:alpha val="12940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" name="Google Shape;260;p20"/>
            <p:cNvSpPr txBox="1"/>
            <p:nvPr/>
          </p:nvSpPr>
          <p:spPr>
            <a:xfrm>
              <a:off x="76200" y="161925"/>
              <a:ext cx="660300" cy="57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3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1" name="Google Shape;261;p20"/>
          <p:cNvSpPr txBox="1"/>
          <p:nvPr/>
        </p:nvSpPr>
        <p:spPr>
          <a:xfrm>
            <a:off x="1028700" y="787375"/>
            <a:ext cx="15178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9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rgbClr val="FFFFFF"/>
                </a:solidFill>
              </a:rPr>
              <a:t>Влияние окружения на отток </a:t>
            </a:r>
            <a:endParaRPr/>
          </a:p>
        </p:txBody>
      </p:sp>
      <p:pic>
        <p:nvPicPr>
          <p:cNvPr id="262" name="Google Shape;262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27575" y="2369749"/>
            <a:ext cx="15432850" cy="5547500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20"/>
          <p:cNvSpPr txBox="1"/>
          <p:nvPr/>
        </p:nvSpPr>
        <p:spPr>
          <a:xfrm>
            <a:off x="1427550" y="8457000"/>
            <a:ext cx="154329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По мере роста удовлетворенности сотрудника рабочей средой и отношениями в компании процентное соотношение уволенных сотрудников снижается.</a:t>
            </a:r>
            <a:endParaRPr sz="2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1"/>
          <p:cNvSpPr/>
          <p:nvPr/>
        </p:nvSpPr>
        <p:spPr>
          <a:xfrm rot="10800000">
            <a:off x="0" y="89925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9221" l="0" r="0" t="-9221"/>
            </a:stretch>
          </a:blipFill>
          <a:ln>
            <a:noFill/>
          </a:ln>
        </p:spPr>
      </p:sp>
      <p:pic>
        <p:nvPicPr>
          <p:cNvPr id="269" name="Google Shape;269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35450" y="2367675"/>
            <a:ext cx="14617075" cy="54324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0" name="Google Shape;270;p21"/>
          <p:cNvGrpSpPr/>
          <p:nvPr/>
        </p:nvGrpSpPr>
        <p:grpSpPr>
          <a:xfrm>
            <a:off x="1207375" y="8217076"/>
            <a:ext cx="15873251" cy="1846392"/>
            <a:chOff x="0" y="-6"/>
            <a:chExt cx="5974800" cy="1789313"/>
          </a:xfrm>
        </p:grpSpPr>
        <p:sp>
          <p:nvSpPr>
            <p:cNvPr id="271" name="Google Shape;271;p21"/>
            <p:cNvSpPr/>
            <p:nvPr/>
          </p:nvSpPr>
          <p:spPr>
            <a:xfrm>
              <a:off x="0" y="0"/>
              <a:ext cx="5974654" cy="1789307"/>
            </a:xfrm>
            <a:custGeom>
              <a:rect b="b" l="l" r="r" t="t"/>
              <a:pathLst>
                <a:path extrusionOk="0" h="1789307" w="5974654">
                  <a:moveTo>
                    <a:pt x="24875" y="0"/>
                  </a:moveTo>
                  <a:lnTo>
                    <a:pt x="5949779" y="0"/>
                  </a:lnTo>
                  <a:cubicBezTo>
                    <a:pt x="5963517" y="0"/>
                    <a:pt x="5974654" y="11137"/>
                    <a:pt x="5974654" y="24875"/>
                  </a:cubicBezTo>
                  <a:lnTo>
                    <a:pt x="5974654" y="1764433"/>
                  </a:lnTo>
                  <a:cubicBezTo>
                    <a:pt x="5974654" y="1778171"/>
                    <a:pt x="5963517" y="1789307"/>
                    <a:pt x="5949779" y="1789307"/>
                  </a:cubicBezTo>
                  <a:lnTo>
                    <a:pt x="24875" y="1789307"/>
                  </a:lnTo>
                  <a:cubicBezTo>
                    <a:pt x="18278" y="1789307"/>
                    <a:pt x="11951" y="1786687"/>
                    <a:pt x="7286" y="1782022"/>
                  </a:cubicBezTo>
                  <a:cubicBezTo>
                    <a:pt x="2621" y="1777357"/>
                    <a:pt x="0" y="1771030"/>
                    <a:pt x="0" y="1764433"/>
                  </a:cubicBezTo>
                  <a:lnTo>
                    <a:pt x="0" y="24875"/>
                  </a:lnTo>
                  <a:cubicBezTo>
                    <a:pt x="0" y="11137"/>
                    <a:pt x="11137" y="0"/>
                    <a:pt x="24875" y="0"/>
                  </a:cubicBez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rgbClr val="DBD8D8"/>
                </a:gs>
              </a:gsLst>
              <a:lin ang="5400012" scaled="0"/>
            </a:gradFill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" name="Google Shape;272;p21"/>
            <p:cNvSpPr txBox="1"/>
            <p:nvPr/>
          </p:nvSpPr>
          <p:spPr>
            <a:xfrm>
              <a:off x="0" y="-6"/>
              <a:ext cx="5974800" cy="170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3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73" name="Google Shape;273;p21"/>
          <p:cNvGrpSpPr/>
          <p:nvPr/>
        </p:nvGrpSpPr>
        <p:grpSpPr>
          <a:xfrm rot="-9278496">
            <a:off x="15338293" y="-2691288"/>
            <a:ext cx="9966632" cy="18141158"/>
            <a:chOff x="0" y="0"/>
            <a:chExt cx="812800" cy="1479450"/>
          </a:xfrm>
        </p:grpSpPr>
        <p:sp>
          <p:nvSpPr>
            <p:cNvPr id="274" name="Google Shape;274;p21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176"/>
                  </a:srgbClr>
                </a:gs>
                <a:gs pos="25000">
                  <a:srgbClr val="FFFFFF">
                    <a:alpha val="1960"/>
                  </a:srgbClr>
                </a:gs>
                <a:gs pos="50000">
                  <a:srgbClr val="FFFFFF">
                    <a:alpha val="1176"/>
                  </a:srgbClr>
                </a:gs>
                <a:gs pos="75000">
                  <a:srgbClr val="FFFFFF">
                    <a:alpha val="1960"/>
                  </a:srgbClr>
                </a:gs>
                <a:gs pos="100000">
                  <a:srgbClr val="FFFFFF">
                    <a:alpha val="1176"/>
                  </a:srgbClr>
                </a:gs>
              </a:gsLst>
              <a:lin ang="2700006" scaled="0"/>
            </a:gradFill>
            <a:ln cap="rnd" cmpd="sng" w="19050">
              <a:solidFill>
                <a:srgbClr val="FFFFFF">
                  <a:alpha val="12940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" name="Google Shape;275;p21"/>
            <p:cNvSpPr txBox="1"/>
            <p:nvPr/>
          </p:nvSpPr>
          <p:spPr>
            <a:xfrm>
              <a:off x="76200" y="819150"/>
              <a:ext cx="660300" cy="66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1092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76" name="Google Shape;276;p21"/>
          <p:cNvGrpSpPr/>
          <p:nvPr/>
        </p:nvGrpSpPr>
        <p:grpSpPr>
          <a:xfrm rot="-9278505">
            <a:off x="15438555" y="6667994"/>
            <a:ext cx="6254705" cy="6254705"/>
            <a:chOff x="0" y="0"/>
            <a:chExt cx="812800" cy="812800"/>
          </a:xfrm>
        </p:grpSpPr>
        <p:sp>
          <p:nvSpPr>
            <p:cNvPr id="277" name="Google Shape;277;p21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176"/>
                  </a:srgbClr>
                </a:gs>
                <a:gs pos="25000">
                  <a:srgbClr val="FFFFFF">
                    <a:alpha val="1960"/>
                  </a:srgbClr>
                </a:gs>
                <a:gs pos="50000">
                  <a:srgbClr val="FFFFFF">
                    <a:alpha val="1176"/>
                  </a:srgbClr>
                </a:gs>
                <a:gs pos="75000">
                  <a:srgbClr val="FFFFFF">
                    <a:alpha val="1960"/>
                  </a:srgbClr>
                </a:gs>
                <a:gs pos="100000">
                  <a:srgbClr val="FFFFFF">
                    <a:alpha val="1176"/>
                  </a:srgbClr>
                </a:gs>
              </a:gsLst>
              <a:lin ang="2700006" scaled="0"/>
            </a:gradFill>
            <a:ln cap="rnd" cmpd="sng" w="19050">
              <a:solidFill>
                <a:srgbClr val="FFFFFF">
                  <a:alpha val="12940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" name="Google Shape;278;p21"/>
            <p:cNvSpPr txBox="1"/>
            <p:nvPr/>
          </p:nvSpPr>
          <p:spPr>
            <a:xfrm>
              <a:off x="76200" y="161925"/>
              <a:ext cx="660300" cy="57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3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79" name="Google Shape;279;p21"/>
          <p:cNvGrpSpPr/>
          <p:nvPr/>
        </p:nvGrpSpPr>
        <p:grpSpPr>
          <a:xfrm rot="-9278496">
            <a:off x="-3739571" y="-11829579"/>
            <a:ext cx="9966632" cy="18141158"/>
            <a:chOff x="0" y="0"/>
            <a:chExt cx="812800" cy="1479450"/>
          </a:xfrm>
        </p:grpSpPr>
        <p:sp>
          <p:nvSpPr>
            <p:cNvPr id="280" name="Google Shape;280;p21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176"/>
                  </a:srgbClr>
                </a:gs>
                <a:gs pos="25000">
                  <a:srgbClr val="FFFFFF">
                    <a:alpha val="1960"/>
                  </a:srgbClr>
                </a:gs>
                <a:gs pos="50000">
                  <a:srgbClr val="FFFFFF">
                    <a:alpha val="1176"/>
                  </a:srgbClr>
                </a:gs>
                <a:gs pos="75000">
                  <a:srgbClr val="FFFFFF">
                    <a:alpha val="1960"/>
                  </a:srgbClr>
                </a:gs>
                <a:gs pos="100000">
                  <a:srgbClr val="FFFFFF">
                    <a:alpha val="1176"/>
                  </a:srgbClr>
                </a:gs>
              </a:gsLst>
              <a:lin ang="2700006" scaled="0"/>
            </a:gradFill>
            <a:ln cap="rnd" cmpd="sng" w="19050">
              <a:solidFill>
                <a:srgbClr val="FFFFFF">
                  <a:alpha val="12940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" name="Google Shape;281;p21"/>
            <p:cNvSpPr txBox="1"/>
            <p:nvPr/>
          </p:nvSpPr>
          <p:spPr>
            <a:xfrm>
              <a:off x="76200" y="819150"/>
              <a:ext cx="660300" cy="66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1092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2" name="Google Shape;282;p21"/>
          <p:cNvGrpSpPr/>
          <p:nvPr/>
        </p:nvGrpSpPr>
        <p:grpSpPr>
          <a:xfrm rot="-9278493">
            <a:off x="-2997128" y="-1545990"/>
            <a:ext cx="5213132" cy="5213132"/>
            <a:chOff x="0" y="0"/>
            <a:chExt cx="812800" cy="812800"/>
          </a:xfrm>
        </p:grpSpPr>
        <p:sp>
          <p:nvSpPr>
            <p:cNvPr id="283" name="Google Shape;283;p21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176"/>
                  </a:srgbClr>
                </a:gs>
                <a:gs pos="25000">
                  <a:srgbClr val="FFFFFF">
                    <a:alpha val="1960"/>
                  </a:srgbClr>
                </a:gs>
                <a:gs pos="50000">
                  <a:srgbClr val="FFFFFF">
                    <a:alpha val="1176"/>
                  </a:srgbClr>
                </a:gs>
                <a:gs pos="75000">
                  <a:srgbClr val="FFFFFF">
                    <a:alpha val="1960"/>
                  </a:srgbClr>
                </a:gs>
                <a:gs pos="100000">
                  <a:srgbClr val="FFFFFF">
                    <a:alpha val="1176"/>
                  </a:srgbClr>
                </a:gs>
              </a:gsLst>
              <a:lin ang="2700006" scaled="0"/>
            </a:gradFill>
            <a:ln cap="rnd" cmpd="sng" w="19050">
              <a:solidFill>
                <a:srgbClr val="FFFFFF">
                  <a:alpha val="12940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" name="Google Shape;284;p21"/>
            <p:cNvSpPr txBox="1"/>
            <p:nvPr/>
          </p:nvSpPr>
          <p:spPr>
            <a:xfrm>
              <a:off x="76200" y="161925"/>
              <a:ext cx="660300" cy="57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3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85" name="Google Shape;285;p21"/>
          <p:cNvSpPr txBox="1"/>
          <p:nvPr/>
        </p:nvSpPr>
        <p:spPr>
          <a:xfrm>
            <a:off x="1028700" y="787375"/>
            <a:ext cx="15178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9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rgbClr val="FFFFFF"/>
                </a:solidFill>
              </a:rPr>
              <a:t>Отток по отделам</a:t>
            </a:r>
            <a:endParaRPr/>
          </a:p>
        </p:txBody>
      </p:sp>
      <p:sp>
        <p:nvSpPr>
          <p:cNvPr id="286" name="Google Shape;286;p21"/>
          <p:cNvSpPr txBox="1"/>
          <p:nvPr/>
        </p:nvSpPr>
        <p:spPr>
          <a:xfrm>
            <a:off x="1427550" y="8432275"/>
            <a:ext cx="154329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Среди всех уволившихся сотрудников 56% приходятся на отдел научных исследований и развития, 38% на отдел продаж и только 5% на отдел кадров.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Доля уволившихся сотрудников в отделе продаж максимальна и составляет 38,5%. В отделе кадров было уволено 35,6% сотрудников, а в отделе научных исследований и развития только 25,9%.</a:t>
            </a:r>
            <a:endParaRPr sz="2000"/>
          </a:p>
        </p:txBody>
      </p:sp>
      <p:pic>
        <p:nvPicPr>
          <p:cNvPr id="287" name="Google Shape;287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835463" y="2367675"/>
            <a:ext cx="8330800" cy="5401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619276" y="2367675"/>
            <a:ext cx="5833250" cy="5432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22"/>
          <p:cNvSpPr/>
          <p:nvPr/>
        </p:nvSpPr>
        <p:spPr>
          <a:xfrm rot="10800000">
            <a:off x="0" y="89925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9221" l="0" r="0" t="-9221"/>
            </a:stretch>
          </a:blipFill>
          <a:ln>
            <a:noFill/>
          </a:ln>
        </p:spPr>
      </p:sp>
      <p:sp>
        <p:nvSpPr>
          <p:cNvPr id="294" name="Google Shape;294;p22"/>
          <p:cNvSpPr/>
          <p:nvPr/>
        </p:nvSpPr>
        <p:spPr>
          <a:xfrm>
            <a:off x="1207563" y="8217076"/>
            <a:ext cx="15877643" cy="1279355"/>
          </a:xfrm>
          <a:custGeom>
            <a:rect b="b" l="l" r="r" t="t"/>
            <a:pathLst>
              <a:path extrusionOk="0" h="1789307" w="5974654">
                <a:moveTo>
                  <a:pt x="24875" y="0"/>
                </a:moveTo>
                <a:lnTo>
                  <a:pt x="5949779" y="0"/>
                </a:lnTo>
                <a:cubicBezTo>
                  <a:pt x="5963517" y="0"/>
                  <a:pt x="5974654" y="11137"/>
                  <a:pt x="5974654" y="24875"/>
                </a:cubicBezTo>
                <a:lnTo>
                  <a:pt x="5974654" y="1764433"/>
                </a:lnTo>
                <a:cubicBezTo>
                  <a:pt x="5974654" y="1778171"/>
                  <a:pt x="5963517" y="1789307"/>
                  <a:pt x="5949779" y="1789307"/>
                </a:cubicBezTo>
                <a:lnTo>
                  <a:pt x="24875" y="1789307"/>
                </a:lnTo>
                <a:cubicBezTo>
                  <a:pt x="18278" y="1789307"/>
                  <a:pt x="11951" y="1786687"/>
                  <a:pt x="7286" y="1782022"/>
                </a:cubicBezTo>
                <a:cubicBezTo>
                  <a:pt x="2621" y="1777357"/>
                  <a:pt x="0" y="1771030"/>
                  <a:pt x="0" y="1764433"/>
                </a:cubicBezTo>
                <a:lnTo>
                  <a:pt x="0" y="24875"/>
                </a:lnTo>
                <a:cubicBezTo>
                  <a:pt x="0" y="11137"/>
                  <a:pt x="11137" y="0"/>
                  <a:pt x="24875" y="0"/>
                </a:cubicBezTo>
                <a:close/>
              </a:path>
            </a:pathLst>
          </a:custGeom>
          <a:gradFill>
            <a:gsLst>
              <a:gs pos="0">
                <a:srgbClr val="FFFFFF"/>
              </a:gs>
              <a:gs pos="100000">
                <a:srgbClr val="DBD8D8"/>
              </a:gs>
            </a:gsLst>
            <a:lin ang="5400012" scaled="0"/>
          </a:gradFill>
          <a:ln cap="rnd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95" name="Google Shape;295;p22"/>
          <p:cNvGrpSpPr/>
          <p:nvPr/>
        </p:nvGrpSpPr>
        <p:grpSpPr>
          <a:xfrm rot="-9278496">
            <a:off x="15338293" y="-2691288"/>
            <a:ext cx="9966632" cy="18141158"/>
            <a:chOff x="0" y="0"/>
            <a:chExt cx="812800" cy="1479450"/>
          </a:xfrm>
        </p:grpSpPr>
        <p:sp>
          <p:nvSpPr>
            <p:cNvPr id="296" name="Google Shape;296;p22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176"/>
                  </a:srgbClr>
                </a:gs>
                <a:gs pos="25000">
                  <a:srgbClr val="FFFFFF">
                    <a:alpha val="1960"/>
                  </a:srgbClr>
                </a:gs>
                <a:gs pos="50000">
                  <a:srgbClr val="FFFFFF">
                    <a:alpha val="1176"/>
                  </a:srgbClr>
                </a:gs>
                <a:gs pos="75000">
                  <a:srgbClr val="FFFFFF">
                    <a:alpha val="1960"/>
                  </a:srgbClr>
                </a:gs>
                <a:gs pos="100000">
                  <a:srgbClr val="FFFFFF">
                    <a:alpha val="1176"/>
                  </a:srgbClr>
                </a:gs>
              </a:gsLst>
              <a:lin ang="2700006" scaled="0"/>
            </a:gradFill>
            <a:ln cap="rnd" cmpd="sng" w="19050">
              <a:solidFill>
                <a:srgbClr val="FFFFFF">
                  <a:alpha val="12940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" name="Google Shape;297;p22"/>
            <p:cNvSpPr txBox="1"/>
            <p:nvPr/>
          </p:nvSpPr>
          <p:spPr>
            <a:xfrm>
              <a:off x="76200" y="819150"/>
              <a:ext cx="660300" cy="66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1092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8" name="Google Shape;298;p22"/>
          <p:cNvGrpSpPr/>
          <p:nvPr/>
        </p:nvGrpSpPr>
        <p:grpSpPr>
          <a:xfrm rot="-9278505">
            <a:off x="15438555" y="6667994"/>
            <a:ext cx="6254705" cy="6254705"/>
            <a:chOff x="0" y="0"/>
            <a:chExt cx="812800" cy="812800"/>
          </a:xfrm>
        </p:grpSpPr>
        <p:sp>
          <p:nvSpPr>
            <p:cNvPr id="299" name="Google Shape;299;p22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176"/>
                  </a:srgbClr>
                </a:gs>
                <a:gs pos="25000">
                  <a:srgbClr val="FFFFFF">
                    <a:alpha val="1960"/>
                  </a:srgbClr>
                </a:gs>
                <a:gs pos="50000">
                  <a:srgbClr val="FFFFFF">
                    <a:alpha val="1176"/>
                  </a:srgbClr>
                </a:gs>
                <a:gs pos="75000">
                  <a:srgbClr val="FFFFFF">
                    <a:alpha val="1960"/>
                  </a:srgbClr>
                </a:gs>
                <a:gs pos="100000">
                  <a:srgbClr val="FFFFFF">
                    <a:alpha val="1176"/>
                  </a:srgbClr>
                </a:gs>
              </a:gsLst>
              <a:lin ang="2700006" scaled="0"/>
            </a:gradFill>
            <a:ln cap="rnd" cmpd="sng" w="19050">
              <a:solidFill>
                <a:srgbClr val="FFFFFF">
                  <a:alpha val="12940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" name="Google Shape;300;p22"/>
            <p:cNvSpPr txBox="1"/>
            <p:nvPr/>
          </p:nvSpPr>
          <p:spPr>
            <a:xfrm>
              <a:off x="76200" y="161925"/>
              <a:ext cx="660300" cy="57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3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1" name="Google Shape;301;p22"/>
          <p:cNvGrpSpPr/>
          <p:nvPr/>
        </p:nvGrpSpPr>
        <p:grpSpPr>
          <a:xfrm rot="-9278496">
            <a:off x="-4052721" y="-11986154"/>
            <a:ext cx="9966632" cy="18141158"/>
            <a:chOff x="0" y="0"/>
            <a:chExt cx="812800" cy="1479450"/>
          </a:xfrm>
        </p:grpSpPr>
        <p:sp>
          <p:nvSpPr>
            <p:cNvPr id="302" name="Google Shape;302;p22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176"/>
                  </a:srgbClr>
                </a:gs>
                <a:gs pos="25000">
                  <a:srgbClr val="FFFFFF">
                    <a:alpha val="1960"/>
                  </a:srgbClr>
                </a:gs>
                <a:gs pos="50000">
                  <a:srgbClr val="FFFFFF">
                    <a:alpha val="1176"/>
                  </a:srgbClr>
                </a:gs>
                <a:gs pos="75000">
                  <a:srgbClr val="FFFFFF">
                    <a:alpha val="1960"/>
                  </a:srgbClr>
                </a:gs>
                <a:gs pos="100000">
                  <a:srgbClr val="FFFFFF">
                    <a:alpha val="1176"/>
                  </a:srgbClr>
                </a:gs>
              </a:gsLst>
              <a:lin ang="2700006" scaled="0"/>
            </a:gradFill>
            <a:ln cap="rnd" cmpd="sng" w="19050">
              <a:solidFill>
                <a:srgbClr val="FFFFFF">
                  <a:alpha val="12940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" name="Google Shape;303;p22"/>
            <p:cNvSpPr txBox="1"/>
            <p:nvPr/>
          </p:nvSpPr>
          <p:spPr>
            <a:xfrm>
              <a:off x="76200" y="819150"/>
              <a:ext cx="660300" cy="66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1092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4" name="Google Shape;304;p22"/>
          <p:cNvGrpSpPr/>
          <p:nvPr/>
        </p:nvGrpSpPr>
        <p:grpSpPr>
          <a:xfrm rot="-9278493">
            <a:off x="-2997128" y="-1545990"/>
            <a:ext cx="5213132" cy="5213132"/>
            <a:chOff x="0" y="0"/>
            <a:chExt cx="812800" cy="812800"/>
          </a:xfrm>
        </p:grpSpPr>
        <p:sp>
          <p:nvSpPr>
            <p:cNvPr id="305" name="Google Shape;305;p22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176"/>
                  </a:srgbClr>
                </a:gs>
                <a:gs pos="25000">
                  <a:srgbClr val="FFFFFF">
                    <a:alpha val="1960"/>
                  </a:srgbClr>
                </a:gs>
                <a:gs pos="50000">
                  <a:srgbClr val="FFFFFF">
                    <a:alpha val="1176"/>
                  </a:srgbClr>
                </a:gs>
                <a:gs pos="75000">
                  <a:srgbClr val="FFFFFF">
                    <a:alpha val="1960"/>
                  </a:srgbClr>
                </a:gs>
                <a:gs pos="100000">
                  <a:srgbClr val="FFFFFF">
                    <a:alpha val="1176"/>
                  </a:srgbClr>
                </a:gs>
              </a:gsLst>
              <a:lin ang="2700006" scaled="0"/>
            </a:gradFill>
            <a:ln cap="rnd" cmpd="sng" w="19050">
              <a:solidFill>
                <a:srgbClr val="FFFFFF">
                  <a:alpha val="12940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" name="Google Shape;306;p22"/>
            <p:cNvSpPr txBox="1"/>
            <p:nvPr/>
          </p:nvSpPr>
          <p:spPr>
            <a:xfrm>
              <a:off x="76200" y="161925"/>
              <a:ext cx="660300" cy="57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3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07" name="Google Shape;307;p22"/>
          <p:cNvSpPr txBox="1"/>
          <p:nvPr/>
        </p:nvSpPr>
        <p:spPr>
          <a:xfrm>
            <a:off x="1028700" y="787375"/>
            <a:ext cx="15178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9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rgbClr val="FFFFFF"/>
                </a:solidFill>
              </a:rPr>
              <a:t>Влияние удовлетворенности </a:t>
            </a:r>
            <a:endParaRPr/>
          </a:p>
        </p:txBody>
      </p:sp>
      <p:sp>
        <p:nvSpPr>
          <p:cNvPr id="308" name="Google Shape;308;p22"/>
          <p:cNvSpPr txBox="1"/>
          <p:nvPr/>
        </p:nvSpPr>
        <p:spPr>
          <a:xfrm>
            <a:off x="1427550" y="8302650"/>
            <a:ext cx="154329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Наибольший отток кадров наблюдается в группе людей с низкой удовлетворенностью своей работой. Для наименее удовлетворенных своей работой отделом с максимальным оттоком является отдел кадров, с минимальным – отдел научных исследований и развития. Заметна тенденция к снижению оттока кадров по мере увеличения удовлетворенности.</a:t>
            </a:r>
            <a:endParaRPr sz="2000"/>
          </a:p>
        </p:txBody>
      </p:sp>
      <p:pic>
        <p:nvPicPr>
          <p:cNvPr id="309" name="Google Shape;309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38747" y="2282288"/>
            <a:ext cx="10810502" cy="57224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23"/>
          <p:cNvSpPr/>
          <p:nvPr/>
        </p:nvSpPr>
        <p:spPr>
          <a:xfrm rot="10800000">
            <a:off x="0" y="89925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9221" l="0" r="0" t="-9221"/>
            </a:stretch>
          </a:blipFill>
          <a:ln>
            <a:noFill/>
          </a:ln>
        </p:spPr>
      </p:sp>
      <p:grpSp>
        <p:nvGrpSpPr>
          <p:cNvPr id="315" name="Google Shape;315;p23"/>
          <p:cNvGrpSpPr/>
          <p:nvPr/>
        </p:nvGrpSpPr>
        <p:grpSpPr>
          <a:xfrm>
            <a:off x="1207375" y="8217072"/>
            <a:ext cx="15873251" cy="1280253"/>
            <a:chOff x="197952" y="-6"/>
            <a:chExt cx="5974800" cy="1789313"/>
          </a:xfrm>
        </p:grpSpPr>
        <p:sp>
          <p:nvSpPr>
            <p:cNvPr id="316" name="Google Shape;316;p23"/>
            <p:cNvSpPr/>
            <p:nvPr/>
          </p:nvSpPr>
          <p:spPr>
            <a:xfrm>
              <a:off x="198023" y="0"/>
              <a:ext cx="5974654" cy="1789307"/>
            </a:xfrm>
            <a:custGeom>
              <a:rect b="b" l="l" r="r" t="t"/>
              <a:pathLst>
                <a:path extrusionOk="0" h="1789307" w="5974654">
                  <a:moveTo>
                    <a:pt x="24875" y="0"/>
                  </a:moveTo>
                  <a:lnTo>
                    <a:pt x="5949779" y="0"/>
                  </a:lnTo>
                  <a:cubicBezTo>
                    <a:pt x="5963517" y="0"/>
                    <a:pt x="5974654" y="11137"/>
                    <a:pt x="5974654" y="24875"/>
                  </a:cubicBezTo>
                  <a:lnTo>
                    <a:pt x="5974654" y="1764433"/>
                  </a:lnTo>
                  <a:cubicBezTo>
                    <a:pt x="5974654" y="1778171"/>
                    <a:pt x="5963517" y="1789307"/>
                    <a:pt x="5949779" y="1789307"/>
                  </a:cubicBezTo>
                  <a:lnTo>
                    <a:pt x="24875" y="1789307"/>
                  </a:lnTo>
                  <a:cubicBezTo>
                    <a:pt x="18278" y="1789307"/>
                    <a:pt x="11951" y="1786687"/>
                    <a:pt x="7286" y="1782022"/>
                  </a:cubicBezTo>
                  <a:cubicBezTo>
                    <a:pt x="2621" y="1777357"/>
                    <a:pt x="0" y="1771030"/>
                    <a:pt x="0" y="1764433"/>
                  </a:cubicBezTo>
                  <a:lnTo>
                    <a:pt x="0" y="24875"/>
                  </a:lnTo>
                  <a:cubicBezTo>
                    <a:pt x="0" y="11137"/>
                    <a:pt x="11137" y="0"/>
                    <a:pt x="24875" y="0"/>
                  </a:cubicBez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rgbClr val="DBD8D8"/>
                </a:gs>
              </a:gsLst>
              <a:lin ang="5400012" scaled="0"/>
            </a:gradFill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" name="Google Shape;317;p23"/>
            <p:cNvSpPr txBox="1"/>
            <p:nvPr/>
          </p:nvSpPr>
          <p:spPr>
            <a:xfrm>
              <a:off x="197952" y="-6"/>
              <a:ext cx="5974800" cy="170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3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18" name="Google Shape;318;p23"/>
          <p:cNvGrpSpPr/>
          <p:nvPr/>
        </p:nvGrpSpPr>
        <p:grpSpPr>
          <a:xfrm rot="-9278496">
            <a:off x="15338293" y="-2691288"/>
            <a:ext cx="9966632" cy="18141158"/>
            <a:chOff x="0" y="0"/>
            <a:chExt cx="812800" cy="1479450"/>
          </a:xfrm>
        </p:grpSpPr>
        <p:sp>
          <p:nvSpPr>
            <p:cNvPr id="319" name="Google Shape;319;p23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176"/>
                  </a:srgbClr>
                </a:gs>
                <a:gs pos="25000">
                  <a:srgbClr val="FFFFFF">
                    <a:alpha val="1960"/>
                  </a:srgbClr>
                </a:gs>
                <a:gs pos="50000">
                  <a:srgbClr val="FFFFFF">
                    <a:alpha val="1176"/>
                  </a:srgbClr>
                </a:gs>
                <a:gs pos="75000">
                  <a:srgbClr val="FFFFFF">
                    <a:alpha val="1960"/>
                  </a:srgbClr>
                </a:gs>
                <a:gs pos="100000">
                  <a:srgbClr val="FFFFFF">
                    <a:alpha val="1176"/>
                  </a:srgbClr>
                </a:gs>
              </a:gsLst>
              <a:lin ang="2700006" scaled="0"/>
            </a:gradFill>
            <a:ln cap="rnd" cmpd="sng" w="19050">
              <a:solidFill>
                <a:srgbClr val="FFFFFF">
                  <a:alpha val="12940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p23"/>
            <p:cNvSpPr txBox="1"/>
            <p:nvPr/>
          </p:nvSpPr>
          <p:spPr>
            <a:xfrm>
              <a:off x="76200" y="819150"/>
              <a:ext cx="660300" cy="66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1092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1" name="Google Shape;321;p23"/>
          <p:cNvGrpSpPr/>
          <p:nvPr/>
        </p:nvGrpSpPr>
        <p:grpSpPr>
          <a:xfrm rot="-9278505">
            <a:off x="15438555" y="6667994"/>
            <a:ext cx="6254705" cy="6254705"/>
            <a:chOff x="0" y="0"/>
            <a:chExt cx="812800" cy="812800"/>
          </a:xfrm>
        </p:grpSpPr>
        <p:sp>
          <p:nvSpPr>
            <p:cNvPr id="322" name="Google Shape;322;p23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176"/>
                  </a:srgbClr>
                </a:gs>
                <a:gs pos="25000">
                  <a:srgbClr val="FFFFFF">
                    <a:alpha val="1960"/>
                  </a:srgbClr>
                </a:gs>
                <a:gs pos="50000">
                  <a:srgbClr val="FFFFFF">
                    <a:alpha val="1176"/>
                  </a:srgbClr>
                </a:gs>
                <a:gs pos="75000">
                  <a:srgbClr val="FFFFFF">
                    <a:alpha val="1960"/>
                  </a:srgbClr>
                </a:gs>
                <a:gs pos="100000">
                  <a:srgbClr val="FFFFFF">
                    <a:alpha val="1176"/>
                  </a:srgbClr>
                </a:gs>
              </a:gsLst>
              <a:lin ang="2700006" scaled="0"/>
            </a:gradFill>
            <a:ln cap="rnd" cmpd="sng" w="19050">
              <a:solidFill>
                <a:srgbClr val="FFFFFF">
                  <a:alpha val="12940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" name="Google Shape;323;p23"/>
            <p:cNvSpPr txBox="1"/>
            <p:nvPr/>
          </p:nvSpPr>
          <p:spPr>
            <a:xfrm>
              <a:off x="76200" y="161925"/>
              <a:ext cx="660300" cy="57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3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4" name="Google Shape;324;p23"/>
          <p:cNvGrpSpPr/>
          <p:nvPr/>
        </p:nvGrpSpPr>
        <p:grpSpPr>
          <a:xfrm rot="-9278496">
            <a:off x="-4052721" y="-11986154"/>
            <a:ext cx="9966632" cy="18141158"/>
            <a:chOff x="0" y="0"/>
            <a:chExt cx="812800" cy="1479450"/>
          </a:xfrm>
        </p:grpSpPr>
        <p:sp>
          <p:nvSpPr>
            <p:cNvPr id="325" name="Google Shape;325;p23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176"/>
                  </a:srgbClr>
                </a:gs>
                <a:gs pos="25000">
                  <a:srgbClr val="FFFFFF">
                    <a:alpha val="1960"/>
                  </a:srgbClr>
                </a:gs>
                <a:gs pos="50000">
                  <a:srgbClr val="FFFFFF">
                    <a:alpha val="1176"/>
                  </a:srgbClr>
                </a:gs>
                <a:gs pos="75000">
                  <a:srgbClr val="FFFFFF">
                    <a:alpha val="1960"/>
                  </a:srgbClr>
                </a:gs>
                <a:gs pos="100000">
                  <a:srgbClr val="FFFFFF">
                    <a:alpha val="1176"/>
                  </a:srgbClr>
                </a:gs>
              </a:gsLst>
              <a:lin ang="2700006" scaled="0"/>
            </a:gradFill>
            <a:ln cap="rnd" cmpd="sng" w="19050">
              <a:solidFill>
                <a:srgbClr val="FFFFFF">
                  <a:alpha val="12940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" name="Google Shape;326;p23"/>
            <p:cNvSpPr txBox="1"/>
            <p:nvPr/>
          </p:nvSpPr>
          <p:spPr>
            <a:xfrm>
              <a:off x="76200" y="819150"/>
              <a:ext cx="660300" cy="66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1092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7" name="Google Shape;327;p23"/>
          <p:cNvGrpSpPr/>
          <p:nvPr/>
        </p:nvGrpSpPr>
        <p:grpSpPr>
          <a:xfrm rot="-9278493">
            <a:off x="-2997128" y="-1545990"/>
            <a:ext cx="5213132" cy="5213132"/>
            <a:chOff x="0" y="0"/>
            <a:chExt cx="812800" cy="812800"/>
          </a:xfrm>
        </p:grpSpPr>
        <p:sp>
          <p:nvSpPr>
            <p:cNvPr id="328" name="Google Shape;328;p23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176"/>
                  </a:srgbClr>
                </a:gs>
                <a:gs pos="25000">
                  <a:srgbClr val="FFFFFF">
                    <a:alpha val="1960"/>
                  </a:srgbClr>
                </a:gs>
                <a:gs pos="50000">
                  <a:srgbClr val="FFFFFF">
                    <a:alpha val="1176"/>
                  </a:srgbClr>
                </a:gs>
                <a:gs pos="75000">
                  <a:srgbClr val="FFFFFF">
                    <a:alpha val="1960"/>
                  </a:srgbClr>
                </a:gs>
                <a:gs pos="100000">
                  <a:srgbClr val="FFFFFF">
                    <a:alpha val="1176"/>
                  </a:srgbClr>
                </a:gs>
              </a:gsLst>
              <a:lin ang="2700006" scaled="0"/>
            </a:gradFill>
            <a:ln cap="rnd" cmpd="sng" w="19050">
              <a:solidFill>
                <a:srgbClr val="FFFFFF">
                  <a:alpha val="12940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" name="Google Shape;329;p23"/>
            <p:cNvSpPr txBox="1"/>
            <p:nvPr/>
          </p:nvSpPr>
          <p:spPr>
            <a:xfrm>
              <a:off x="76200" y="161925"/>
              <a:ext cx="660300" cy="57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3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30" name="Google Shape;330;p23"/>
          <p:cNvSpPr txBox="1"/>
          <p:nvPr/>
        </p:nvSpPr>
        <p:spPr>
          <a:xfrm>
            <a:off x="1028700" y="787375"/>
            <a:ext cx="15178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9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rgbClr val="FFFFFF"/>
                </a:solidFill>
              </a:rPr>
              <a:t>Отток по должностям</a:t>
            </a:r>
            <a:endParaRPr/>
          </a:p>
        </p:txBody>
      </p:sp>
      <p:sp>
        <p:nvSpPr>
          <p:cNvPr id="331" name="Google Shape;331;p23"/>
          <p:cNvSpPr txBox="1"/>
          <p:nvPr/>
        </p:nvSpPr>
        <p:spPr>
          <a:xfrm>
            <a:off x="1291800" y="8457000"/>
            <a:ext cx="157044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По мере повышения уровня должности отток кадров снижается. Наибольший отток демонстрируют представители отдела продаж, отдела кадров и техники в лабораториях. Наибольший отток наблюдается по начальному и среднему уровням должности.</a:t>
            </a:r>
            <a:endParaRPr sz="2000"/>
          </a:p>
        </p:txBody>
      </p:sp>
      <p:pic>
        <p:nvPicPr>
          <p:cNvPr id="332" name="Google Shape;332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90500" y="2226112"/>
            <a:ext cx="12055201" cy="5834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24"/>
          <p:cNvSpPr/>
          <p:nvPr/>
        </p:nvSpPr>
        <p:spPr>
          <a:xfrm flipH="1"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9222" l="0" r="0" t="-9222"/>
            </a:stretch>
          </a:blipFill>
          <a:ln>
            <a:noFill/>
          </a:ln>
        </p:spPr>
      </p:sp>
      <p:sp>
        <p:nvSpPr>
          <p:cNvPr id="338" name="Google Shape;338;p24"/>
          <p:cNvSpPr/>
          <p:nvPr/>
        </p:nvSpPr>
        <p:spPr>
          <a:xfrm flipH="1">
            <a:off x="4682729" y="5151555"/>
            <a:ext cx="5725382" cy="1134667"/>
          </a:xfrm>
          <a:custGeom>
            <a:rect b="b" l="l" r="r" t="t"/>
            <a:pathLst>
              <a:path extrusionOk="0" h="1134667" w="5725382">
                <a:moveTo>
                  <a:pt x="0" y="1134666"/>
                </a:moveTo>
                <a:lnTo>
                  <a:pt x="5725382" y="1134666"/>
                </a:lnTo>
                <a:lnTo>
                  <a:pt x="5725382" y="0"/>
                </a:lnTo>
                <a:lnTo>
                  <a:pt x="0" y="0"/>
                </a:lnTo>
                <a:lnTo>
                  <a:pt x="0" y="1134666"/>
                </a:lnTo>
                <a:close/>
              </a:path>
            </a:pathLst>
          </a:custGeom>
          <a:blipFill rotWithShape="1">
            <a:blip r:embed="rId4">
              <a:alphaModFix amt="56000"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39" name="Google Shape;339;p24"/>
          <p:cNvGrpSpPr/>
          <p:nvPr/>
        </p:nvGrpSpPr>
        <p:grpSpPr>
          <a:xfrm>
            <a:off x="1150350" y="4383275"/>
            <a:ext cx="15397831" cy="4231582"/>
            <a:chOff x="0" y="0"/>
            <a:chExt cx="5816648" cy="1437700"/>
          </a:xfrm>
        </p:grpSpPr>
        <p:sp>
          <p:nvSpPr>
            <p:cNvPr id="340" name="Google Shape;340;p24"/>
            <p:cNvSpPr/>
            <p:nvPr/>
          </p:nvSpPr>
          <p:spPr>
            <a:xfrm>
              <a:off x="0" y="0"/>
              <a:ext cx="5816648" cy="1437700"/>
            </a:xfrm>
            <a:custGeom>
              <a:rect b="b" l="l" r="r" t="t"/>
              <a:pathLst>
                <a:path extrusionOk="0" h="1437700" w="5816648">
                  <a:moveTo>
                    <a:pt x="25642" y="0"/>
                  </a:moveTo>
                  <a:lnTo>
                    <a:pt x="5791005" y="0"/>
                  </a:lnTo>
                  <a:cubicBezTo>
                    <a:pt x="5797806" y="0"/>
                    <a:pt x="5804328" y="2702"/>
                    <a:pt x="5809137" y="7510"/>
                  </a:cubicBezTo>
                  <a:cubicBezTo>
                    <a:pt x="5813946" y="12319"/>
                    <a:pt x="5816648" y="18842"/>
                    <a:pt x="5816648" y="25642"/>
                  </a:cubicBezTo>
                  <a:lnTo>
                    <a:pt x="5816648" y="1412058"/>
                  </a:lnTo>
                  <a:cubicBezTo>
                    <a:pt x="5816648" y="1418858"/>
                    <a:pt x="5813946" y="1425381"/>
                    <a:pt x="5809137" y="1430190"/>
                  </a:cubicBezTo>
                  <a:cubicBezTo>
                    <a:pt x="5804328" y="1434998"/>
                    <a:pt x="5797806" y="1437700"/>
                    <a:pt x="5791005" y="1437700"/>
                  </a:cubicBezTo>
                  <a:lnTo>
                    <a:pt x="25642" y="1437700"/>
                  </a:lnTo>
                  <a:cubicBezTo>
                    <a:pt x="18842" y="1437700"/>
                    <a:pt x="12319" y="1434998"/>
                    <a:pt x="7510" y="1430190"/>
                  </a:cubicBezTo>
                  <a:cubicBezTo>
                    <a:pt x="2702" y="1425381"/>
                    <a:pt x="0" y="1418858"/>
                    <a:pt x="0" y="1412058"/>
                  </a:cubicBezTo>
                  <a:lnTo>
                    <a:pt x="0" y="25642"/>
                  </a:lnTo>
                  <a:cubicBezTo>
                    <a:pt x="0" y="18842"/>
                    <a:pt x="2702" y="12319"/>
                    <a:pt x="7510" y="7510"/>
                  </a:cubicBezTo>
                  <a:cubicBezTo>
                    <a:pt x="12319" y="2702"/>
                    <a:pt x="18842" y="0"/>
                    <a:pt x="25642" y="0"/>
                  </a:cubicBez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rgbClr val="DBD8D8"/>
                </a:gs>
              </a:gsLst>
              <a:lin ang="5400000" scaled="0"/>
            </a:gradFill>
            <a:ln cap="rnd" cmpd="sng" w="19050">
              <a:solidFill>
                <a:srgbClr val="C55CD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" name="Google Shape;341;p24"/>
            <p:cNvSpPr txBox="1"/>
            <p:nvPr/>
          </p:nvSpPr>
          <p:spPr>
            <a:xfrm>
              <a:off x="0" y="85725"/>
              <a:ext cx="5816648" cy="13519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3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42" name="Google Shape;342;p24"/>
          <p:cNvGrpSpPr/>
          <p:nvPr/>
        </p:nvGrpSpPr>
        <p:grpSpPr>
          <a:xfrm rot="-9278497">
            <a:off x="13968970" y="-14309687"/>
            <a:ext cx="9966661" cy="18142438"/>
            <a:chOff x="0" y="0"/>
            <a:chExt cx="812800" cy="1479550"/>
          </a:xfrm>
        </p:grpSpPr>
        <p:sp>
          <p:nvSpPr>
            <p:cNvPr id="343" name="Google Shape;343;p24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176"/>
                  </a:srgbClr>
                </a:gs>
                <a:gs pos="25000">
                  <a:srgbClr val="FFFFFF">
                    <a:alpha val="1568"/>
                  </a:srgbClr>
                </a:gs>
                <a:gs pos="50000">
                  <a:srgbClr val="FFFFFF">
                    <a:alpha val="1176"/>
                  </a:srgbClr>
                </a:gs>
                <a:gs pos="75000">
                  <a:srgbClr val="FFFFFF">
                    <a:alpha val="1568"/>
                  </a:srgbClr>
                </a:gs>
                <a:gs pos="100000">
                  <a:srgbClr val="FFFFFF">
                    <a:alpha val="1176"/>
                  </a:srgbClr>
                </a:gs>
              </a:gsLst>
              <a:lin ang="2700000" scaled="0"/>
            </a:gradFill>
            <a:ln cap="rnd" cmpd="sng" w="19050">
              <a:solidFill>
                <a:srgbClr val="FFFFFF">
                  <a:alpha val="10980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" name="Google Shape;344;p24"/>
            <p:cNvSpPr txBox="1"/>
            <p:nvPr/>
          </p:nvSpPr>
          <p:spPr>
            <a:xfrm>
              <a:off x="76200" y="819150"/>
              <a:ext cx="660400" cy="66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1092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45" name="Google Shape;345;p24"/>
          <p:cNvGrpSpPr/>
          <p:nvPr/>
        </p:nvGrpSpPr>
        <p:grpSpPr>
          <a:xfrm rot="-9278497">
            <a:off x="14620041" y="-3792460"/>
            <a:ext cx="5213104" cy="5213104"/>
            <a:chOff x="0" y="0"/>
            <a:chExt cx="812800" cy="812800"/>
          </a:xfrm>
        </p:grpSpPr>
        <p:sp>
          <p:nvSpPr>
            <p:cNvPr id="346" name="Google Shape;346;p24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176"/>
                  </a:srgbClr>
                </a:gs>
                <a:gs pos="25000">
                  <a:srgbClr val="FFFFFF">
                    <a:alpha val="1568"/>
                  </a:srgbClr>
                </a:gs>
                <a:gs pos="50000">
                  <a:srgbClr val="FFFFFF">
                    <a:alpha val="1176"/>
                  </a:srgbClr>
                </a:gs>
                <a:gs pos="75000">
                  <a:srgbClr val="FFFFFF">
                    <a:alpha val="1568"/>
                  </a:srgbClr>
                </a:gs>
                <a:gs pos="100000">
                  <a:srgbClr val="FFFFFF">
                    <a:alpha val="1176"/>
                  </a:srgbClr>
                </a:gs>
              </a:gsLst>
              <a:lin ang="2700000" scaled="0"/>
            </a:gradFill>
            <a:ln cap="rnd" cmpd="sng" w="19050">
              <a:solidFill>
                <a:srgbClr val="FFFFFF">
                  <a:alpha val="10980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" name="Google Shape;347;p24"/>
            <p:cNvSpPr txBox="1"/>
            <p:nvPr/>
          </p:nvSpPr>
          <p:spPr>
            <a:xfrm>
              <a:off x="76200" y="161925"/>
              <a:ext cx="660400" cy="5746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3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48" name="Google Shape;348;p24"/>
          <p:cNvSpPr txBox="1"/>
          <p:nvPr/>
        </p:nvSpPr>
        <p:spPr>
          <a:xfrm>
            <a:off x="1028700" y="725405"/>
            <a:ext cx="10083044" cy="8991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9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Выводы и рекомендации </a:t>
            </a:r>
            <a:endParaRPr/>
          </a:p>
        </p:txBody>
      </p:sp>
      <p:sp>
        <p:nvSpPr>
          <p:cNvPr id="349" name="Google Shape;349;p24"/>
          <p:cNvSpPr txBox="1"/>
          <p:nvPr/>
        </p:nvSpPr>
        <p:spPr>
          <a:xfrm>
            <a:off x="1150352" y="1993528"/>
            <a:ext cx="13102444" cy="594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70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8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Ключевые выводы </a:t>
            </a:r>
            <a:endParaRPr/>
          </a:p>
        </p:txBody>
      </p:sp>
      <p:sp>
        <p:nvSpPr>
          <p:cNvPr id="350" name="Google Shape;350;p24"/>
          <p:cNvSpPr txBox="1"/>
          <p:nvPr/>
        </p:nvSpPr>
        <p:spPr>
          <a:xfrm>
            <a:off x="1680227" y="4725635"/>
            <a:ext cx="14338200" cy="36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E0637"/>
                </a:solidFill>
                <a:latin typeface="Arial"/>
                <a:ea typeface="Arial"/>
                <a:cs typeface="Arial"/>
                <a:sym typeface="Arial"/>
              </a:rPr>
              <a:t>Анализ показал, что отток носит структурный характер и концентрируется в определённых группах сотрудников. Наиболее уязвимыми являются молодые специалисты с небольшим стажем, низким уровнем дохода и начальными должностями.</a:t>
            </a:r>
            <a:endParaRPr/>
          </a:p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E0637"/>
                </a:solidFill>
                <a:latin typeface="Arial"/>
                <a:ea typeface="Arial"/>
                <a:cs typeface="Arial"/>
                <a:sym typeface="Arial"/>
              </a:rPr>
              <a:t>Также, на отток существенно влияют организационные факторы, такие как переработки и частые командировки, которые увеличивают вероятность увольнения. Высокая вовлечённость и удовлетворённость рабочей средой, наоборот, снижают её.</a:t>
            </a:r>
            <a:endParaRPr/>
          </a:p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E0637"/>
                </a:solidFill>
                <a:latin typeface="Arial"/>
                <a:ea typeface="Arial"/>
                <a:cs typeface="Arial"/>
                <a:sym typeface="Arial"/>
              </a:rPr>
              <a:t>Среди отделов компании отдел научных исследований и отдел продаж демонстрируют повышенный уровень оттока.</a:t>
            </a:r>
            <a:endParaRPr/>
          </a:p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E0637"/>
                </a:solidFill>
                <a:latin typeface="Arial"/>
                <a:ea typeface="Arial"/>
                <a:cs typeface="Arial"/>
                <a:sym typeface="Arial"/>
              </a:rPr>
              <a:t>Наиболее значимыми стабилизирующими факторами являются рост заработной платы, повышение должности, увеличение стажа, а также рост </a:t>
            </a:r>
            <a:r>
              <a:rPr lang="en-US" sz="2000">
                <a:solidFill>
                  <a:srgbClr val="0E0637"/>
                </a:solidFill>
              </a:rPr>
              <a:t>вовлеченности</a:t>
            </a:r>
            <a:r>
              <a:rPr b="0" i="0" lang="en-US" sz="2000" u="none" cap="none" strike="noStrike">
                <a:solidFill>
                  <a:srgbClr val="0E0637"/>
                </a:solidFill>
                <a:latin typeface="Arial"/>
                <a:ea typeface="Arial"/>
                <a:cs typeface="Arial"/>
                <a:sym typeface="Arial"/>
              </a:rPr>
              <a:t> и </a:t>
            </a:r>
            <a:r>
              <a:rPr lang="en-US" sz="2000">
                <a:solidFill>
                  <a:srgbClr val="0E0637"/>
                </a:solidFill>
              </a:rPr>
              <a:t>удовлетворенности</a:t>
            </a:r>
            <a:r>
              <a:rPr b="0" i="0" lang="en-US" sz="2000" u="none" cap="none" strike="noStrike">
                <a:solidFill>
                  <a:srgbClr val="0E0637"/>
                </a:solidFill>
                <a:latin typeface="Arial"/>
                <a:ea typeface="Arial"/>
                <a:cs typeface="Arial"/>
                <a:sym typeface="Arial"/>
              </a:rPr>
              <a:t> работой.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25"/>
          <p:cNvSpPr/>
          <p:nvPr/>
        </p:nvSpPr>
        <p:spPr>
          <a:xfrm flipH="1"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9222" l="0" r="0" t="-9222"/>
            </a:stretch>
          </a:blipFill>
          <a:ln>
            <a:noFill/>
          </a:ln>
        </p:spPr>
      </p:sp>
      <p:grpSp>
        <p:nvGrpSpPr>
          <p:cNvPr id="356" name="Google Shape;356;p25"/>
          <p:cNvGrpSpPr/>
          <p:nvPr/>
        </p:nvGrpSpPr>
        <p:grpSpPr>
          <a:xfrm>
            <a:off x="1150350" y="2956625"/>
            <a:ext cx="16108921" cy="7176080"/>
            <a:chOff x="0" y="0"/>
            <a:chExt cx="6085268" cy="2723887"/>
          </a:xfrm>
        </p:grpSpPr>
        <p:sp>
          <p:nvSpPr>
            <p:cNvPr id="357" name="Google Shape;357;p25"/>
            <p:cNvSpPr/>
            <p:nvPr/>
          </p:nvSpPr>
          <p:spPr>
            <a:xfrm>
              <a:off x="0" y="0"/>
              <a:ext cx="6085268" cy="2723887"/>
            </a:xfrm>
            <a:custGeom>
              <a:rect b="b" l="l" r="r" t="t"/>
              <a:pathLst>
                <a:path extrusionOk="0" h="2723887" w="6085268">
                  <a:moveTo>
                    <a:pt x="24510" y="0"/>
                  </a:moveTo>
                  <a:lnTo>
                    <a:pt x="6060758" y="0"/>
                  </a:lnTo>
                  <a:cubicBezTo>
                    <a:pt x="6074294" y="0"/>
                    <a:pt x="6085268" y="10974"/>
                    <a:pt x="6085268" y="24510"/>
                  </a:cubicBezTo>
                  <a:lnTo>
                    <a:pt x="6085268" y="2699377"/>
                  </a:lnTo>
                  <a:cubicBezTo>
                    <a:pt x="6085268" y="2712913"/>
                    <a:pt x="6074294" y="2723887"/>
                    <a:pt x="6060758" y="2723887"/>
                  </a:cubicBezTo>
                  <a:lnTo>
                    <a:pt x="24510" y="2723887"/>
                  </a:lnTo>
                  <a:cubicBezTo>
                    <a:pt x="18010" y="2723887"/>
                    <a:pt x="11776" y="2721305"/>
                    <a:pt x="7179" y="2716708"/>
                  </a:cubicBezTo>
                  <a:cubicBezTo>
                    <a:pt x="2582" y="2712112"/>
                    <a:pt x="0" y="2705877"/>
                    <a:pt x="0" y="2699377"/>
                  </a:cubicBezTo>
                  <a:lnTo>
                    <a:pt x="0" y="24510"/>
                  </a:lnTo>
                  <a:cubicBezTo>
                    <a:pt x="0" y="10974"/>
                    <a:pt x="10974" y="0"/>
                    <a:pt x="24510" y="0"/>
                  </a:cubicBez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rgbClr val="DBD8D8"/>
                </a:gs>
              </a:gsLst>
              <a:lin ang="5400000" scaled="0"/>
            </a:gradFill>
            <a:ln cap="rnd" cmpd="sng" w="19050">
              <a:solidFill>
                <a:srgbClr val="C55CD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" name="Google Shape;358;p25"/>
            <p:cNvSpPr txBox="1"/>
            <p:nvPr/>
          </p:nvSpPr>
          <p:spPr>
            <a:xfrm>
              <a:off x="0" y="85725"/>
              <a:ext cx="6085268" cy="26381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3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9" name="Google Shape;359;p25"/>
          <p:cNvGrpSpPr/>
          <p:nvPr/>
        </p:nvGrpSpPr>
        <p:grpSpPr>
          <a:xfrm rot="-9278497">
            <a:off x="13968970" y="-14309687"/>
            <a:ext cx="9966661" cy="18142438"/>
            <a:chOff x="0" y="0"/>
            <a:chExt cx="812800" cy="1479550"/>
          </a:xfrm>
        </p:grpSpPr>
        <p:sp>
          <p:nvSpPr>
            <p:cNvPr id="360" name="Google Shape;360;p25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176"/>
                  </a:srgbClr>
                </a:gs>
                <a:gs pos="25000">
                  <a:srgbClr val="FFFFFF">
                    <a:alpha val="1568"/>
                  </a:srgbClr>
                </a:gs>
                <a:gs pos="50000">
                  <a:srgbClr val="FFFFFF">
                    <a:alpha val="1176"/>
                  </a:srgbClr>
                </a:gs>
                <a:gs pos="75000">
                  <a:srgbClr val="FFFFFF">
                    <a:alpha val="1568"/>
                  </a:srgbClr>
                </a:gs>
                <a:gs pos="100000">
                  <a:srgbClr val="FFFFFF">
                    <a:alpha val="1176"/>
                  </a:srgbClr>
                </a:gs>
              </a:gsLst>
              <a:lin ang="2700000" scaled="0"/>
            </a:gradFill>
            <a:ln cap="rnd" cmpd="sng" w="19050">
              <a:solidFill>
                <a:srgbClr val="FFFFFF">
                  <a:alpha val="10980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" name="Google Shape;361;p25"/>
            <p:cNvSpPr txBox="1"/>
            <p:nvPr/>
          </p:nvSpPr>
          <p:spPr>
            <a:xfrm>
              <a:off x="76200" y="819150"/>
              <a:ext cx="660400" cy="66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1092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2" name="Google Shape;362;p25"/>
          <p:cNvGrpSpPr/>
          <p:nvPr/>
        </p:nvGrpSpPr>
        <p:grpSpPr>
          <a:xfrm rot="-9278497">
            <a:off x="14620041" y="-3792460"/>
            <a:ext cx="5213104" cy="5213104"/>
            <a:chOff x="0" y="0"/>
            <a:chExt cx="812800" cy="812800"/>
          </a:xfrm>
        </p:grpSpPr>
        <p:sp>
          <p:nvSpPr>
            <p:cNvPr id="363" name="Google Shape;363;p25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176"/>
                  </a:srgbClr>
                </a:gs>
                <a:gs pos="25000">
                  <a:srgbClr val="FFFFFF">
                    <a:alpha val="1568"/>
                  </a:srgbClr>
                </a:gs>
                <a:gs pos="50000">
                  <a:srgbClr val="FFFFFF">
                    <a:alpha val="1176"/>
                  </a:srgbClr>
                </a:gs>
                <a:gs pos="75000">
                  <a:srgbClr val="FFFFFF">
                    <a:alpha val="1568"/>
                  </a:srgbClr>
                </a:gs>
                <a:gs pos="100000">
                  <a:srgbClr val="FFFFFF">
                    <a:alpha val="1176"/>
                  </a:srgbClr>
                </a:gs>
              </a:gsLst>
              <a:lin ang="2700000" scaled="0"/>
            </a:gradFill>
            <a:ln cap="rnd" cmpd="sng" w="19050">
              <a:solidFill>
                <a:srgbClr val="FFFFFF">
                  <a:alpha val="10980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" name="Google Shape;364;p25"/>
            <p:cNvSpPr txBox="1"/>
            <p:nvPr/>
          </p:nvSpPr>
          <p:spPr>
            <a:xfrm>
              <a:off x="76200" y="161925"/>
              <a:ext cx="660400" cy="5746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3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365" name="Google Shape;365;p25"/>
          <p:cNvCxnSpPr/>
          <p:nvPr/>
        </p:nvCxnSpPr>
        <p:spPr>
          <a:xfrm>
            <a:off x="1536029" y="3874603"/>
            <a:ext cx="15170100" cy="0"/>
          </a:xfrm>
          <a:prstGeom prst="straightConnector1">
            <a:avLst/>
          </a:prstGeom>
          <a:noFill/>
          <a:ln cap="flat" cmpd="sng" w="19050">
            <a:solidFill>
              <a:srgbClr val="0E063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6" name="Google Shape;366;p25"/>
          <p:cNvCxnSpPr/>
          <p:nvPr/>
        </p:nvCxnSpPr>
        <p:spPr>
          <a:xfrm>
            <a:off x="1536029" y="5739958"/>
            <a:ext cx="15170100" cy="0"/>
          </a:xfrm>
          <a:prstGeom prst="straightConnector1">
            <a:avLst/>
          </a:prstGeom>
          <a:noFill/>
          <a:ln cap="flat" cmpd="sng" w="19050">
            <a:solidFill>
              <a:srgbClr val="0E063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7" name="Google Shape;367;p25"/>
          <p:cNvSpPr txBox="1"/>
          <p:nvPr/>
        </p:nvSpPr>
        <p:spPr>
          <a:xfrm>
            <a:off x="1028700" y="725405"/>
            <a:ext cx="13033762" cy="8991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9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Выводы и рекомендации </a:t>
            </a:r>
            <a:endParaRPr/>
          </a:p>
        </p:txBody>
      </p:sp>
      <p:sp>
        <p:nvSpPr>
          <p:cNvPr id="368" name="Google Shape;368;p25"/>
          <p:cNvSpPr txBox="1"/>
          <p:nvPr/>
        </p:nvSpPr>
        <p:spPr>
          <a:xfrm>
            <a:off x="1536029" y="3161632"/>
            <a:ext cx="55953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70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85" u="none" cap="none" strike="noStrike">
                <a:solidFill>
                  <a:srgbClr val="0E0637"/>
                </a:solidFill>
                <a:latin typeface="Arial"/>
                <a:ea typeface="Arial"/>
                <a:cs typeface="Arial"/>
                <a:sym typeface="Arial"/>
              </a:rPr>
              <a:t>Отдел кадров</a:t>
            </a:r>
            <a:endParaRPr/>
          </a:p>
        </p:txBody>
      </p:sp>
      <p:sp>
        <p:nvSpPr>
          <p:cNvPr id="369" name="Google Shape;369;p25"/>
          <p:cNvSpPr txBox="1"/>
          <p:nvPr/>
        </p:nvSpPr>
        <p:spPr>
          <a:xfrm>
            <a:off x="1536029" y="3960328"/>
            <a:ext cx="15170100" cy="10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E0637"/>
                </a:solidFill>
                <a:latin typeface="Arial"/>
                <a:ea typeface="Arial"/>
                <a:cs typeface="Arial"/>
                <a:sym typeface="Arial"/>
              </a:rPr>
              <a:t>Необходимо обращать особое внимание к ожиданиям кандидата по заработной плате и переработкам при найме на работу, упростить адаптацию для новых сотрудников. Возможно назначение ментора или регулярные встречи в первые 3 года работы. Необходимо ввести регулярные опросы удовлетворённости и вовлеченности сотрудника в работу.</a:t>
            </a:r>
            <a:endParaRPr/>
          </a:p>
        </p:txBody>
      </p:sp>
      <p:sp>
        <p:nvSpPr>
          <p:cNvPr id="370" name="Google Shape;370;p25"/>
          <p:cNvSpPr txBox="1"/>
          <p:nvPr/>
        </p:nvSpPr>
        <p:spPr>
          <a:xfrm>
            <a:off x="1150352" y="1993528"/>
            <a:ext cx="13102444" cy="594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70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8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Выводы для стейкхолдеров</a:t>
            </a:r>
            <a:endParaRPr/>
          </a:p>
        </p:txBody>
      </p:sp>
      <p:sp>
        <p:nvSpPr>
          <p:cNvPr id="371" name="Google Shape;371;p25"/>
          <p:cNvSpPr txBox="1"/>
          <p:nvPr/>
        </p:nvSpPr>
        <p:spPr>
          <a:xfrm>
            <a:off x="1536029" y="5031538"/>
            <a:ext cx="55953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70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85" u="none" cap="none" strike="noStrike">
                <a:solidFill>
                  <a:srgbClr val="0E0637"/>
                </a:solidFill>
                <a:latin typeface="Arial"/>
                <a:ea typeface="Arial"/>
                <a:cs typeface="Arial"/>
                <a:sym typeface="Arial"/>
              </a:rPr>
              <a:t>Высший менеджмент</a:t>
            </a:r>
            <a:endParaRPr/>
          </a:p>
        </p:txBody>
      </p:sp>
      <p:sp>
        <p:nvSpPr>
          <p:cNvPr id="372" name="Google Shape;372;p25"/>
          <p:cNvSpPr txBox="1"/>
          <p:nvPr/>
        </p:nvSpPr>
        <p:spPr>
          <a:xfrm>
            <a:off x="1536029" y="5825683"/>
            <a:ext cx="15170100" cy="178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E0637"/>
                </a:solidFill>
                <a:latin typeface="Arial"/>
                <a:ea typeface="Arial"/>
                <a:cs typeface="Arial"/>
                <a:sym typeface="Arial"/>
              </a:rPr>
              <a:t>Необходимо пересмотреть политику оплаты труда для начальных и средних должностей, скорректировать вилки заработной платы вместо использования точечных повышений. Также возможен пересмотр политики переработок, необходимо уточнить допустимые нормы переработок и усилить контроль в отчетности. При превышении нормы переработок рассматривать перераспределение ресурсов, изменение планирования или расширение штата. Следует сфокусировать внимание на отделе продаж и отделе кадров, так как эти отделы показывают повышенный отток.  </a:t>
            </a:r>
            <a:endParaRPr/>
          </a:p>
        </p:txBody>
      </p:sp>
      <p:cxnSp>
        <p:nvCxnSpPr>
          <p:cNvPr id="373" name="Google Shape;373;p25"/>
          <p:cNvCxnSpPr/>
          <p:nvPr/>
        </p:nvCxnSpPr>
        <p:spPr>
          <a:xfrm>
            <a:off x="1536029" y="8164537"/>
            <a:ext cx="15170100" cy="0"/>
          </a:xfrm>
          <a:prstGeom prst="straightConnector1">
            <a:avLst/>
          </a:prstGeom>
          <a:noFill/>
          <a:ln cap="flat" cmpd="sng" w="19050">
            <a:solidFill>
              <a:srgbClr val="0E063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4" name="Google Shape;374;p25"/>
          <p:cNvSpPr txBox="1"/>
          <p:nvPr/>
        </p:nvSpPr>
        <p:spPr>
          <a:xfrm>
            <a:off x="1536029" y="7456118"/>
            <a:ext cx="99258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70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85" u="none" cap="none" strike="noStrike">
                <a:solidFill>
                  <a:srgbClr val="0E0637"/>
                </a:solidFill>
                <a:latin typeface="Arial"/>
                <a:ea typeface="Arial"/>
                <a:cs typeface="Arial"/>
                <a:sym typeface="Arial"/>
              </a:rPr>
              <a:t>Руководители подразделений</a:t>
            </a:r>
            <a:endParaRPr/>
          </a:p>
        </p:txBody>
      </p:sp>
      <p:sp>
        <p:nvSpPr>
          <p:cNvPr id="375" name="Google Shape;375;p25"/>
          <p:cNvSpPr txBox="1"/>
          <p:nvPr/>
        </p:nvSpPr>
        <p:spPr>
          <a:xfrm>
            <a:off x="1536029" y="8250262"/>
            <a:ext cx="15170100" cy="178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E0637"/>
                </a:solidFill>
                <a:latin typeface="Arial"/>
                <a:ea typeface="Arial"/>
                <a:cs typeface="Arial"/>
                <a:sym typeface="Arial"/>
              </a:rPr>
              <a:t>Необходимо контролировать загрузку сотрудников и не допускать регулярных переработок, установить порог допустимых переработок и при необходимости перераспределять задачи. Кроме того, следует обращать внимание на вовлеченность и удовлетворенность сотрудников, а также повышать эти показатели через четкие цели, регулярную обратную связь или урегулирование конфликтов при возникновении. Необходимо уделять особое внимание сотрудникам со стажем до 3 лет как группе повышенного риска. Пересмотреть политику командировок: снизить их количество и равномерно распределять нагрузку.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26"/>
          <p:cNvSpPr/>
          <p:nvPr/>
        </p:nvSpPr>
        <p:spPr>
          <a:xfrm flipH="1"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9222" l="0" r="0" t="-9222"/>
            </a:stretch>
          </a:blipFill>
          <a:ln>
            <a:noFill/>
          </a:ln>
        </p:spPr>
      </p:sp>
      <p:grpSp>
        <p:nvGrpSpPr>
          <p:cNvPr id="381" name="Google Shape;381;p26"/>
          <p:cNvGrpSpPr/>
          <p:nvPr/>
        </p:nvGrpSpPr>
        <p:grpSpPr>
          <a:xfrm>
            <a:off x="995993" y="5316583"/>
            <a:ext cx="16230600" cy="3149367"/>
            <a:chOff x="0" y="0"/>
            <a:chExt cx="6131223" cy="1189695"/>
          </a:xfrm>
        </p:grpSpPr>
        <p:sp>
          <p:nvSpPr>
            <p:cNvPr id="382" name="Google Shape;382;p26"/>
            <p:cNvSpPr/>
            <p:nvPr/>
          </p:nvSpPr>
          <p:spPr>
            <a:xfrm>
              <a:off x="0" y="0"/>
              <a:ext cx="6131223" cy="1189695"/>
            </a:xfrm>
            <a:custGeom>
              <a:rect b="b" l="l" r="r" t="t"/>
              <a:pathLst>
                <a:path extrusionOk="0" h="1189695" w="6131223">
                  <a:moveTo>
                    <a:pt x="24327" y="0"/>
                  </a:moveTo>
                  <a:lnTo>
                    <a:pt x="6106896" y="0"/>
                  </a:lnTo>
                  <a:cubicBezTo>
                    <a:pt x="6113348" y="0"/>
                    <a:pt x="6119536" y="2563"/>
                    <a:pt x="6124098" y="7125"/>
                  </a:cubicBezTo>
                  <a:cubicBezTo>
                    <a:pt x="6128660" y="11687"/>
                    <a:pt x="6131223" y="17875"/>
                    <a:pt x="6131223" y="24327"/>
                  </a:cubicBezTo>
                  <a:lnTo>
                    <a:pt x="6131223" y="1165369"/>
                  </a:lnTo>
                  <a:cubicBezTo>
                    <a:pt x="6131223" y="1178804"/>
                    <a:pt x="6120331" y="1189695"/>
                    <a:pt x="6106896" y="1189695"/>
                  </a:cubicBezTo>
                  <a:lnTo>
                    <a:pt x="24327" y="1189695"/>
                  </a:lnTo>
                  <a:cubicBezTo>
                    <a:pt x="10891" y="1189695"/>
                    <a:pt x="0" y="1178804"/>
                    <a:pt x="0" y="1165369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rgbClr val="DBD8D8"/>
                </a:gs>
              </a:gsLst>
              <a:lin ang="5400000" scaled="0"/>
            </a:gradFill>
            <a:ln cap="rnd" cmpd="sng" w="19050">
              <a:solidFill>
                <a:srgbClr val="C55CD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" name="Google Shape;383;p26"/>
            <p:cNvSpPr txBox="1"/>
            <p:nvPr/>
          </p:nvSpPr>
          <p:spPr>
            <a:xfrm>
              <a:off x="0" y="85725"/>
              <a:ext cx="6131223" cy="11039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3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84" name="Google Shape;384;p26"/>
          <p:cNvGrpSpPr/>
          <p:nvPr/>
        </p:nvGrpSpPr>
        <p:grpSpPr>
          <a:xfrm rot="-9278497">
            <a:off x="13968970" y="-14309687"/>
            <a:ext cx="9966661" cy="18142438"/>
            <a:chOff x="0" y="0"/>
            <a:chExt cx="812800" cy="1479550"/>
          </a:xfrm>
        </p:grpSpPr>
        <p:sp>
          <p:nvSpPr>
            <p:cNvPr id="385" name="Google Shape;385;p26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176"/>
                  </a:srgbClr>
                </a:gs>
                <a:gs pos="25000">
                  <a:srgbClr val="FFFFFF">
                    <a:alpha val="1568"/>
                  </a:srgbClr>
                </a:gs>
                <a:gs pos="50000">
                  <a:srgbClr val="FFFFFF">
                    <a:alpha val="1176"/>
                  </a:srgbClr>
                </a:gs>
                <a:gs pos="75000">
                  <a:srgbClr val="FFFFFF">
                    <a:alpha val="1568"/>
                  </a:srgbClr>
                </a:gs>
                <a:gs pos="100000">
                  <a:srgbClr val="FFFFFF">
                    <a:alpha val="1176"/>
                  </a:srgbClr>
                </a:gs>
              </a:gsLst>
              <a:lin ang="2700000" scaled="0"/>
            </a:gradFill>
            <a:ln cap="rnd" cmpd="sng" w="19050">
              <a:solidFill>
                <a:srgbClr val="FFFFFF">
                  <a:alpha val="10980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" name="Google Shape;386;p26"/>
            <p:cNvSpPr txBox="1"/>
            <p:nvPr/>
          </p:nvSpPr>
          <p:spPr>
            <a:xfrm>
              <a:off x="76200" y="819150"/>
              <a:ext cx="660400" cy="66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1092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87" name="Google Shape;387;p26"/>
          <p:cNvGrpSpPr/>
          <p:nvPr/>
        </p:nvGrpSpPr>
        <p:grpSpPr>
          <a:xfrm rot="-9278497">
            <a:off x="14620041" y="-3792460"/>
            <a:ext cx="5213104" cy="5213104"/>
            <a:chOff x="0" y="0"/>
            <a:chExt cx="812800" cy="812800"/>
          </a:xfrm>
        </p:grpSpPr>
        <p:sp>
          <p:nvSpPr>
            <p:cNvPr id="388" name="Google Shape;388;p26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176"/>
                  </a:srgbClr>
                </a:gs>
                <a:gs pos="25000">
                  <a:srgbClr val="FFFFFF">
                    <a:alpha val="1568"/>
                  </a:srgbClr>
                </a:gs>
                <a:gs pos="50000">
                  <a:srgbClr val="FFFFFF">
                    <a:alpha val="1176"/>
                  </a:srgbClr>
                </a:gs>
                <a:gs pos="75000">
                  <a:srgbClr val="FFFFFF">
                    <a:alpha val="1568"/>
                  </a:srgbClr>
                </a:gs>
                <a:gs pos="100000">
                  <a:srgbClr val="FFFFFF">
                    <a:alpha val="1176"/>
                  </a:srgbClr>
                </a:gs>
              </a:gsLst>
              <a:lin ang="2700000" scaled="0"/>
            </a:gradFill>
            <a:ln cap="rnd" cmpd="sng" w="19050">
              <a:solidFill>
                <a:srgbClr val="FFFFFF">
                  <a:alpha val="10980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" name="Google Shape;389;p26"/>
            <p:cNvSpPr txBox="1"/>
            <p:nvPr/>
          </p:nvSpPr>
          <p:spPr>
            <a:xfrm>
              <a:off x="76200" y="161925"/>
              <a:ext cx="660400" cy="5746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3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90" name="Google Shape;390;p26"/>
          <p:cNvSpPr txBox="1"/>
          <p:nvPr/>
        </p:nvSpPr>
        <p:spPr>
          <a:xfrm>
            <a:off x="1028700" y="725405"/>
            <a:ext cx="13033762" cy="8991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9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Выводы и рекомендации </a:t>
            </a:r>
            <a:endParaRPr/>
          </a:p>
        </p:txBody>
      </p:sp>
      <p:sp>
        <p:nvSpPr>
          <p:cNvPr id="391" name="Google Shape;391;p26"/>
          <p:cNvSpPr txBox="1"/>
          <p:nvPr/>
        </p:nvSpPr>
        <p:spPr>
          <a:xfrm>
            <a:off x="1150352" y="1993528"/>
            <a:ext cx="13102444" cy="594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70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8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Пути развития и улучшения решения</a:t>
            </a:r>
            <a:endParaRPr/>
          </a:p>
        </p:txBody>
      </p:sp>
      <p:sp>
        <p:nvSpPr>
          <p:cNvPr id="392" name="Google Shape;392;p26"/>
          <p:cNvSpPr txBox="1"/>
          <p:nvPr/>
        </p:nvSpPr>
        <p:spPr>
          <a:xfrm>
            <a:off x="1387781" y="5502103"/>
            <a:ext cx="15512439" cy="27402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E0637"/>
                </a:solidFill>
                <a:latin typeface="Arial"/>
                <a:ea typeface="Arial"/>
                <a:cs typeface="Arial"/>
                <a:sym typeface="Arial"/>
              </a:rPr>
              <a:t>Дальнейшее развитие может включать углубление анализа на уровне конкретных отделов компании для выявления конкретных причин оттока, характерных для каждого отдела в особенности.</a:t>
            </a:r>
            <a:endParaRPr/>
          </a:p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E0637"/>
                </a:solidFill>
                <a:latin typeface="Arial"/>
                <a:ea typeface="Arial"/>
                <a:cs typeface="Arial"/>
                <a:sym typeface="Arial"/>
              </a:rPr>
              <a:t>Кроме того, возможно внедрение предиктивных моделей риска увольнения для раннего выявления сотрудников с высокой вероятностью увольнения с целью предотвращения ухода.</a:t>
            </a:r>
            <a:endParaRPr/>
          </a:p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E0637"/>
                </a:solidFill>
                <a:latin typeface="Arial"/>
                <a:ea typeface="Arial"/>
                <a:cs typeface="Arial"/>
                <a:sym typeface="Arial"/>
              </a:rPr>
              <a:t>Также возможно проведение более глубокого анализа после сбора данных от ушедших сотрудников, с целью выяснить что конкретно повлияло на их решение уйти из компании, а также введение системы получения обратной связи от действующих сотрудников, с целью получения информации о сотруднике и возможном предотвращении его ухода.</a:t>
            </a:r>
            <a:endParaRPr/>
          </a:p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E0637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27"/>
          <p:cNvSpPr/>
          <p:nvPr/>
        </p:nvSpPr>
        <p:spPr>
          <a:xfrm flipH="1"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9222" l="0" r="0" t="-9222"/>
            </a:stretch>
          </a:blipFill>
          <a:ln>
            <a:noFill/>
          </a:ln>
        </p:spPr>
      </p:sp>
      <p:grpSp>
        <p:nvGrpSpPr>
          <p:cNvPr id="398" name="Google Shape;398;p27"/>
          <p:cNvGrpSpPr/>
          <p:nvPr/>
        </p:nvGrpSpPr>
        <p:grpSpPr>
          <a:xfrm rot="-9278497">
            <a:off x="13968970" y="-14477720"/>
            <a:ext cx="9966661" cy="18142438"/>
            <a:chOff x="0" y="0"/>
            <a:chExt cx="812800" cy="1479550"/>
          </a:xfrm>
        </p:grpSpPr>
        <p:sp>
          <p:nvSpPr>
            <p:cNvPr id="399" name="Google Shape;399;p27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176"/>
                  </a:srgbClr>
                </a:gs>
                <a:gs pos="25000">
                  <a:srgbClr val="FFFFFF">
                    <a:alpha val="1568"/>
                  </a:srgbClr>
                </a:gs>
                <a:gs pos="50000">
                  <a:srgbClr val="FFFFFF">
                    <a:alpha val="1176"/>
                  </a:srgbClr>
                </a:gs>
                <a:gs pos="75000">
                  <a:srgbClr val="FFFFFF">
                    <a:alpha val="1568"/>
                  </a:srgbClr>
                </a:gs>
                <a:gs pos="100000">
                  <a:srgbClr val="FFFFFF">
                    <a:alpha val="1176"/>
                  </a:srgbClr>
                </a:gs>
              </a:gsLst>
              <a:lin ang="2700000" scaled="0"/>
            </a:gradFill>
            <a:ln cap="rnd" cmpd="sng" w="19050">
              <a:solidFill>
                <a:srgbClr val="FFFFFF">
                  <a:alpha val="10980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" name="Google Shape;400;p27"/>
            <p:cNvSpPr txBox="1"/>
            <p:nvPr/>
          </p:nvSpPr>
          <p:spPr>
            <a:xfrm>
              <a:off x="76200" y="819150"/>
              <a:ext cx="660400" cy="66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1092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01" name="Google Shape;401;p27"/>
          <p:cNvGrpSpPr/>
          <p:nvPr/>
        </p:nvGrpSpPr>
        <p:grpSpPr>
          <a:xfrm rot="-9278497">
            <a:off x="14620041" y="-3792460"/>
            <a:ext cx="5213104" cy="5213104"/>
            <a:chOff x="0" y="0"/>
            <a:chExt cx="812800" cy="812800"/>
          </a:xfrm>
        </p:grpSpPr>
        <p:sp>
          <p:nvSpPr>
            <p:cNvPr id="402" name="Google Shape;402;p27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176"/>
                  </a:srgbClr>
                </a:gs>
                <a:gs pos="25000">
                  <a:srgbClr val="FFFFFF">
                    <a:alpha val="1568"/>
                  </a:srgbClr>
                </a:gs>
                <a:gs pos="50000">
                  <a:srgbClr val="FFFFFF">
                    <a:alpha val="1176"/>
                  </a:srgbClr>
                </a:gs>
                <a:gs pos="75000">
                  <a:srgbClr val="FFFFFF">
                    <a:alpha val="1568"/>
                  </a:srgbClr>
                </a:gs>
                <a:gs pos="100000">
                  <a:srgbClr val="FFFFFF">
                    <a:alpha val="1176"/>
                  </a:srgbClr>
                </a:gs>
              </a:gsLst>
              <a:lin ang="2700000" scaled="0"/>
            </a:gradFill>
            <a:ln cap="rnd" cmpd="sng" w="19050">
              <a:solidFill>
                <a:srgbClr val="FFFFFF">
                  <a:alpha val="10980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" name="Google Shape;403;p27"/>
            <p:cNvSpPr txBox="1"/>
            <p:nvPr/>
          </p:nvSpPr>
          <p:spPr>
            <a:xfrm>
              <a:off x="76200" y="161925"/>
              <a:ext cx="660400" cy="5746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3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04" name="Google Shape;404;p27"/>
          <p:cNvSpPr txBox="1"/>
          <p:nvPr/>
        </p:nvSpPr>
        <p:spPr>
          <a:xfrm>
            <a:off x="4569301" y="4698700"/>
            <a:ext cx="105933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9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Благодарю за внимание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